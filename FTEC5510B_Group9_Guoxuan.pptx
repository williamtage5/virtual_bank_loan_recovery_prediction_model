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15"/>
  </p:handoutMasterIdLst>
  <p:sldIdLst>
    <p:sldId id="291" r:id="rId3"/>
    <p:sldId id="293" r:id="rId4"/>
    <p:sldId id="303" r:id="rId5"/>
    <p:sldId id="299" r:id="rId7"/>
    <p:sldId id="295" r:id="rId8"/>
    <p:sldId id="300" r:id="rId9"/>
    <p:sldId id="296" r:id="rId10"/>
    <p:sldId id="297" r:id="rId11"/>
    <p:sldId id="301" r:id="rId12"/>
    <p:sldId id="302" r:id="rId13"/>
    <p:sldId id="294"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1f47da6-3b02-4ddd-92b2-9f6937ec0e0d}">
          <p14:sldIdLst>
            <p14:sldId id="291"/>
            <p14:sldId id="293"/>
          </p14:sldIdLst>
        </p14:section>
        <p14:section name="Methodology and Experiments" id="{942338f4-d368-49c9-a143-68c19adf5eb3}">
          <p14:sldIdLst>
            <p14:sldId id="303"/>
            <p14:sldId id="299"/>
            <p14:sldId id="295"/>
            <p14:sldId id="300"/>
            <p14:sldId id="296"/>
            <p14:sldId id="297"/>
            <p14:sldId id="301"/>
            <p14:sldId id="302"/>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1E6F"/>
    <a:srgbClr val="E7AA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5" autoAdjust="0"/>
    <p:restoredTop sz="80163" autoAdjust="0"/>
  </p:normalViewPr>
  <p:slideViewPr>
    <p:cSldViewPr snapToGrid="0">
      <p:cViewPr varScale="1">
        <p:scale>
          <a:sx n="68" d="100"/>
          <a:sy n="68" d="100"/>
        </p:scale>
        <p:origin x="936"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1F3345-A8C1-45A7-A0FE-89C3AEE8227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D05C1E-B9C6-42CB-BB62-F79CBB95246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Before we get this part start, I have to emphasize that due to diversified data exploration of Virtual Bank and advanced method to deal with it, we create a novel machine learning construction to maximize the precision of loan recovery prediction. Based on it, we then calculate a more accurate provision allocation using a opti</a:t>
            </a:r>
            <a:r>
              <a:rPr lang="en-US" altLang="zh-CN"/>
              <a:t>mization model.</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Our model construction begin with data re-operation in 3 steps.</a:t>
            </a:r>
            <a:endParaRPr lang="en-US" altLang="zh-CN"/>
          </a:p>
          <a:p>
            <a:r>
              <a:rPr lang="en-US" altLang="zh-CN"/>
              <a:t>First, we </a:t>
            </a:r>
            <a:r>
              <a:rPr lang="en-US" altLang="zh-CN"/>
              <a:t>clean up 18 attribute columns that cause data leaks.</a:t>
            </a:r>
            <a:endParaRPr lang="en-US" altLang="zh-CN"/>
          </a:p>
          <a:p>
            <a:r>
              <a:rPr lang="en-US" altLang="zh-CN"/>
              <a:t>Second, we choose all the macro attributes instead of using dimensionality reduction, because we found it doesn`t </a:t>
            </a:r>
            <a:r>
              <a:rPr lang="en-US" altLang="zh-CN"/>
              <a:t>matter for both prediction and explainbility.</a:t>
            </a:r>
            <a:endParaRPr lang="en-US" altLang="zh-CN"/>
          </a:p>
          <a:p>
            <a:r>
              <a:rPr lang="en-US" altLang="zh-CN"/>
              <a:t>Finanly, learned from LLM refined method partially, we modified and generated a text embedding by leveraging prompts of Qwen, which are created by exsisting texts and panel information to describe </a:t>
            </a:r>
            <a:r>
              <a:rPr lang="en-US" altLang="zh-CN"/>
              <a:t>borrowing reason.</a:t>
            </a:r>
            <a:endParaRPr lang="en-US" altLang="zh-CN"/>
          </a:p>
          <a:p>
            <a:r>
              <a:rPr lang="en-US" altLang="zh-CN"/>
              <a:t>So, we have 3 data inputs.</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Then, we need a novel model to handle with different data inputs. Our purpose is we can achieve a good and acceptable result</a:t>
            </a:r>
            <a:r>
              <a:rPr lang="zh-CN" altLang="en-US"/>
              <a:t>，</a:t>
            </a:r>
            <a:r>
              <a:rPr lang="en-US" altLang="zh-CN"/>
              <a:t> and can tell the stakeholders why this model make such judgement, because stakeholder especially in finance field do not like ‘black box’. So, the parts highlighted in red are the crucial components that undermine the black box effects.</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Fortunately, we got </a:t>
            </a:r>
            <a:r>
              <a:rPr lang="en-US" altLang="zh-CN"/>
              <a:t>expected results. </a:t>
            </a:r>
            <a:endParaRPr lang="en-US" altLang="zh-CN"/>
          </a:p>
          <a:p>
            <a:r>
              <a:rPr lang="en-US" altLang="zh-CN"/>
              <a:t>Here I </a:t>
            </a:r>
            <a:r>
              <a:rPr lang="en-US" altLang="zh-CN"/>
              <a:t>want to show more about explanability. It contains 2 parts. The left shows how attributes affects of every sample judgement. The right shows 3 inputs correlation of every sample prediction, which means based on that, reseachers can mine potential  general patteren of each judgement.</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Through comparative experiments, we were able to verify that our model achieved acceptable results. In simpler terms, we mitigated the black-box effect while maintaining optimal performance.</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more accurate loan recovery results we obtained before, can be used to release idle funds by more precisely adjusting the bank's provision coverage ratio. Here, in optmization model, our judgement model more precise the green highlighted parameters. This optimization model is aim to find the best provision by minimizing the total cost within 3 constraints. </a:t>
            </a:r>
            <a:r>
              <a:rPr lang="en-US" altLang="zh-CN"/>
              <a:t>Among the constraints, the risk constraint is a soft constraint written in the objective, while the other 2 are solid which means they must be fulfilled.</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Due to time limitation, I cannot talk to much about details, if you are interested, please </a:t>
            </a:r>
            <a:r>
              <a:rPr lang="en-US" altLang="zh-CN"/>
              <a:t>visit my link.</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157776" y="319816"/>
            <a:ext cx="1633171" cy="129241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接连接符 8"/>
          <p:cNvCxnSpPr/>
          <p:nvPr userDrawn="1"/>
        </p:nvCxnSpPr>
        <p:spPr>
          <a:xfrm>
            <a:off x="1078832" y="3446546"/>
            <a:ext cx="8617618" cy="0"/>
          </a:xfrm>
          <a:prstGeom prst="line">
            <a:avLst/>
          </a:prstGeom>
          <a:ln w="38100">
            <a:solidFill>
              <a:srgbClr val="E7AA22"/>
            </a:solidFill>
          </a:ln>
        </p:spPr>
        <p:style>
          <a:lnRef idx="2">
            <a:schemeClr val="accent5"/>
          </a:lnRef>
          <a:fillRef idx="0">
            <a:schemeClr val="accent5"/>
          </a:fillRef>
          <a:effectRef idx="1">
            <a:schemeClr val="accent5"/>
          </a:effectRef>
          <a:fontRef idx="minor">
            <a:schemeClr val="tx1"/>
          </a:fontRef>
        </p:style>
      </p:cxnSp>
      <p:sp>
        <p:nvSpPr>
          <p:cNvPr id="12" name="文本框 11"/>
          <p:cNvSpPr txBox="1"/>
          <p:nvPr userDrawn="1"/>
        </p:nvSpPr>
        <p:spPr>
          <a:xfrm>
            <a:off x="1078832" y="3720446"/>
            <a:ext cx="8439150" cy="1337945"/>
          </a:xfrm>
          <a:prstGeom prst="rect">
            <a:avLst/>
          </a:prstGeom>
          <a:noFill/>
        </p:spPr>
        <p:txBody>
          <a:bodyPr wrap="square" rtlCol="0">
            <a:spAutoFit/>
          </a:bodyPr>
          <a:lstStyle/>
          <a:p>
            <a:pPr>
              <a:lnSpc>
                <a:spcPct val="150000"/>
              </a:lnSpc>
            </a:pPr>
            <a:r>
              <a:rPr lang="en-US" altLang="zh-CN" dirty="0">
                <a:solidFill>
                  <a:srgbClr val="6E1E6F"/>
                </a:solidFill>
                <a:latin typeface="Verdana" panose="020B0604030504040204" pitchFamily="34" charset="0"/>
                <a:ea typeface="Verdana" panose="020B0604030504040204" pitchFamily="34" charset="0"/>
                <a:cs typeface="Tahoma" panose="020B0604030504040204"/>
              </a:rPr>
              <a:t>FTEC5510B </a:t>
            </a:r>
            <a:r>
              <a:rPr lang="en-US" altLang="zh-CN" dirty="0">
                <a:solidFill>
                  <a:srgbClr val="6E1E6F"/>
                </a:solidFill>
                <a:latin typeface="Verdana" panose="020B0604030504040204" pitchFamily="34" charset="0"/>
                <a:ea typeface="Verdana" panose="020B0604030504040204" pitchFamily="34" charset="0"/>
                <a:cs typeface="Tahoma" panose="020B0604030504040204"/>
              </a:rPr>
              <a:t>Group 9</a:t>
            </a:r>
            <a:endParaRPr lang="en-US" altLang="zh-CN" dirty="0">
              <a:solidFill>
                <a:srgbClr val="6E1E6F"/>
              </a:solidFill>
              <a:latin typeface="Verdana" panose="020B0604030504040204" pitchFamily="34" charset="0"/>
              <a:ea typeface="Verdana" panose="020B0604030504040204" pitchFamily="34" charset="0"/>
              <a:cs typeface="Tahoma" panose="020B0604030504040204"/>
            </a:endParaRPr>
          </a:p>
          <a:p>
            <a:pPr>
              <a:lnSpc>
                <a:spcPct val="150000"/>
              </a:lnSpc>
            </a:pPr>
            <a:fld id="{260ABE34-8B9E-4DB6-BB80-C6AC6806ADC8}" type="datetime4">
              <a:rPr lang="en-US" altLang="zh-CN">
                <a:solidFill>
                  <a:srgbClr val="6E1E6F"/>
                </a:solidFill>
                <a:latin typeface="Verdana" panose="020B0604030504040204" pitchFamily="34" charset="0"/>
                <a:ea typeface="Verdana" panose="020B0604030504040204" pitchFamily="34" charset="0"/>
                <a:cs typeface="Tahoma" panose="020B0604030504040204"/>
              </a:rPr>
            </a:fld>
            <a:endParaRPr lang="en-US" altLang="zh-CN" dirty="0">
              <a:solidFill>
                <a:srgbClr val="6E1E6F"/>
              </a:solidFill>
              <a:latin typeface="Verdana" panose="020B0604030504040204" pitchFamily="34" charset="0"/>
              <a:ea typeface="Verdana" panose="020B0604030504040204" pitchFamily="34" charset="0"/>
              <a:cs typeface="Tahoma" panose="020B0604030504040204"/>
            </a:endParaRPr>
          </a:p>
          <a:p>
            <a:pPr>
              <a:lnSpc>
                <a:spcPct val="150000"/>
              </a:lnSpc>
            </a:pPr>
            <a:r>
              <a:rPr lang="en-US" altLang="zh-CN" dirty="0">
                <a:solidFill>
                  <a:srgbClr val="6E1E6F"/>
                </a:solidFill>
                <a:latin typeface="Verdana" panose="020B0604030504040204" pitchFamily="34" charset="0"/>
                <a:ea typeface="Verdana" panose="020B0604030504040204" pitchFamily="34" charset="0"/>
                <a:cs typeface="Tahoma" panose="020B0604030504040204"/>
              </a:rPr>
              <a:t>Department of </a:t>
            </a:r>
            <a:r>
              <a:rPr lang="en-US" altLang="zh-CN" dirty="0">
                <a:solidFill>
                  <a:srgbClr val="6E1E6F"/>
                </a:solidFill>
                <a:latin typeface="Verdana" panose="020B0604030504040204" pitchFamily="34" charset="0"/>
                <a:ea typeface="Verdana" panose="020B0604030504040204" pitchFamily="34" charset="0"/>
                <a:cs typeface="Tahoma" panose="020B0604030504040204"/>
              </a:rPr>
              <a:t>Engineering, The Chinese University of Hong Kong</a:t>
            </a:r>
            <a:endParaRPr lang="en-US" altLang="zh-CN" dirty="0">
              <a:solidFill>
                <a:srgbClr val="6E1E6F"/>
              </a:solidFill>
              <a:latin typeface="Verdana" panose="020B0604030504040204" pitchFamily="34" charset="0"/>
              <a:ea typeface="Verdana" panose="020B0604030504040204" pitchFamily="34" charset="0"/>
              <a:cs typeface="Tahoma" panose="020B0604030504040204"/>
            </a:endParaRPr>
          </a:p>
        </p:txBody>
      </p:sp>
      <p:sp>
        <p:nvSpPr>
          <p:cNvPr id="2" name="文本占位符 1"/>
          <p:cNvSpPr>
            <a:spLocks noGrp="1"/>
          </p:cNvSpPr>
          <p:nvPr>
            <p:ph type="body" idx="10" hasCustomPrompt="1"/>
          </p:nvPr>
        </p:nvSpPr>
        <p:spPr>
          <a:xfrm>
            <a:off x="1078865" y="1955800"/>
            <a:ext cx="9143365" cy="577215"/>
          </a:xfrm>
        </p:spPr>
        <p:txBody>
          <a:bodyPr/>
          <a:lstStyle>
            <a:lvl1pPr marL="0" indent="0" algn="l">
              <a:buNone/>
              <a:defRPr/>
            </a:lvl1pPr>
          </a:lstStyle>
          <a:p>
            <a:r>
              <a:rPr lang="en-US" altLang="zh-CN" b="1" spc="-90" dirty="0">
                <a:solidFill>
                  <a:srgbClr val="6E1E6F"/>
                </a:solidFill>
                <a:latin typeface="Verdana" panose="020B0604030504040204" pitchFamily="34" charset="0"/>
                <a:ea typeface="Verdana" panose="020B0604030504040204" pitchFamily="34" charset="0"/>
                <a:sym typeface="+mn-ea"/>
              </a:rPr>
              <a:t>Title</a:t>
            </a:r>
            <a:endParaRPr lang="zh-CN" altLang="en-US" smtClean="0"/>
          </a:p>
        </p:txBody>
      </p:sp>
      <p:sp>
        <p:nvSpPr>
          <p:cNvPr id="3" name="文本占位符 2"/>
          <p:cNvSpPr>
            <a:spLocks noGrp="1"/>
          </p:cNvSpPr>
          <p:nvPr>
            <p:ph type="body" idx="11" hasCustomPrompt="1"/>
          </p:nvPr>
        </p:nvSpPr>
        <p:spPr>
          <a:xfrm>
            <a:off x="1078865" y="2790825"/>
            <a:ext cx="6106160" cy="398145"/>
          </a:xfrm>
        </p:spPr>
        <p:txBody>
          <a:bodyPr/>
          <a:lstStyle>
            <a:lvl1pPr marL="0" indent="0">
              <a:buNone/>
              <a:defRPr sz="2000"/>
            </a:lvl1pPr>
          </a:lstStyle>
          <a:p>
            <a:pPr lvl="0"/>
            <a:r>
              <a:rPr lang="en-US" altLang="zh-CN" spc="-60" dirty="0">
                <a:solidFill>
                  <a:srgbClr val="6E1E6F"/>
                </a:solidFill>
                <a:latin typeface="Verdana" panose="020B0604030504040204" pitchFamily="34" charset="0"/>
                <a:ea typeface="Verdana" panose="020B0604030504040204" pitchFamily="34" charset="0"/>
                <a:cs typeface="Tahoma" panose="020B0604030504040204"/>
                <a:sym typeface="+mn-ea"/>
              </a:rPr>
              <a:t>Subtitle</a:t>
            </a:r>
            <a:endParaRPr lang="en-US" altLang="zh-CN" dirty="0">
              <a:solidFill>
                <a:srgbClr val="6E1E6F"/>
              </a:solidFill>
              <a:latin typeface="Verdana" panose="020B0604030504040204" pitchFamily="34" charset="0"/>
              <a:ea typeface="Verdana" panose="020B0604030504040204" pitchFamily="34" charset="0"/>
              <a:cs typeface="Tahoma" panose="020B0604030504040204"/>
            </a:endParaRPr>
          </a:p>
          <a:p>
            <a:pPr lvl="0"/>
            <a:endParaRPr lang="zh-CN" altLang="en-US" smtClean="0"/>
          </a:p>
        </p:txBody>
      </p:sp>
      <p:sp>
        <p:nvSpPr>
          <p:cNvPr id="10" name="日期占位符 9"/>
          <p:cNvSpPr>
            <a:spLocks noGrp="1"/>
          </p:cNvSpPr>
          <p:nvPr>
            <p:ph type="dt" sz="half" idx="2"/>
          </p:nvPr>
        </p:nvSpPr>
        <p:spPr>
          <a:xfrm>
            <a:off x="838200" y="6445887"/>
            <a:ext cx="2743200" cy="365125"/>
          </a:xfrm>
          <a:prstGeom prst="rect">
            <a:avLst/>
          </a:prstGeom>
        </p:spPr>
        <p:txBody>
          <a:bodyPr vert="horz" lIns="91440" tIns="45720" rIns="91440" bIns="45720" rtlCol="0" anchor="ctr"/>
          <a:lstStyle>
            <a:lvl1pPr algn="l">
              <a:defRPr sz="1200">
                <a:solidFill>
                  <a:schemeClr val="bg1"/>
                </a:solidFill>
              </a:defRPr>
            </a:lvl1pPr>
          </a:lstStyle>
          <a:p>
            <a:fld id="{BB962C8B-B14F-4D97-AF65-F5344CB8AC3E}" type="datetime1">
              <a:rPr lang="en-US" altLang="en-US" smtClean="0"/>
            </a:fld>
            <a:endParaRPr lang="zh-CN" altLang="en-US" smtClean="0"/>
          </a:p>
        </p:txBody>
      </p:sp>
      <p:sp>
        <p:nvSpPr>
          <p:cNvPr id="11" name="页脚占位符 10"/>
          <p:cNvSpPr>
            <a:spLocks noGrp="1"/>
          </p:cNvSpPr>
          <p:nvPr>
            <p:ph type="ftr" sz="quarter" idx="3"/>
          </p:nvPr>
        </p:nvSpPr>
        <p:spPr>
          <a:xfrm>
            <a:off x="4038600" y="6445887"/>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CN" altLang="en-US"/>
              <a:t>https://amit-s.medium.com/everything-you-need-to-know-about-knowledge-distillation-aka-teacher-student-model-d6ee10fe7276</a:t>
            </a:r>
            <a:endParaRPr lang="zh-CN" altLang="en-US"/>
          </a:p>
        </p:txBody>
      </p:sp>
      <p:sp>
        <p:nvSpPr>
          <p:cNvPr id="13" name="灯片编号占位符 12"/>
          <p:cNvSpPr>
            <a:spLocks noGrp="1"/>
          </p:cNvSpPr>
          <p:nvPr>
            <p:ph type="sldNum" sz="quarter" idx="4"/>
          </p:nvPr>
        </p:nvSpPr>
        <p:spPr>
          <a:xfrm>
            <a:off x="8610600" y="6445887"/>
            <a:ext cx="2743200" cy="365125"/>
          </a:xfrm>
          <a:prstGeom prst="rect">
            <a:avLst/>
          </a:prstGeom>
        </p:spPr>
        <p:txBody>
          <a:bodyPr vert="horz" lIns="91440" tIns="45720" rIns="91440" bIns="45720" rtlCol="0" anchor="ctr"/>
          <a:lstStyle>
            <a:lvl1pPr algn="r">
              <a:defRPr sz="1200">
                <a:solidFill>
                  <a:schemeClr val="bg1"/>
                </a:solidFill>
              </a:defRPr>
            </a:lvl1pPr>
          </a:lstStyle>
          <a:p>
            <a:fld id="{07E31664-F2F5-479F-9EE0-33FE33DF833E}" type="slidenum">
              <a:rPr lang="zh-CN" altLang="en-US" smtClean="0"/>
            </a:fld>
            <a:endParaRPr lang="zh-CN" altLang="en-US"/>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7" name="文本框 6"/>
          <p:cNvSpPr txBox="1"/>
          <p:nvPr userDrawn="1"/>
        </p:nvSpPr>
        <p:spPr>
          <a:xfrm>
            <a:off x="1768475" y="800100"/>
            <a:ext cx="5077460" cy="523240"/>
          </a:xfrm>
          <a:prstGeom prst="rect">
            <a:avLst/>
          </a:prstGeom>
          <a:noFill/>
        </p:spPr>
        <p:txBody>
          <a:bodyPr wrap="square" rtlCol="0">
            <a:spAutoFit/>
          </a:bodyPr>
          <a:lstStyle/>
          <a:p>
            <a:r>
              <a:rPr lang="en-US" altLang="zh-CN" sz="2800" b="1" dirty="0">
                <a:solidFill>
                  <a:srgbClr val="6E1E6F"/>
                </a:solidFill>
                <a:latin typeface="Verdana" panose="020B0604030504040204" pitchFamily="34" charset="0"/>
                <a:ea typeface="Verdana" panose="020B0604030504040204" pitchFamily="34" charset="0"/>
              </a:rPr>
              <a:t>Table of content</a:t>
            </a:r>
            <a:endParaRPr lang="zh-CN" altLang="en-US" sz="2800" b="1" dirty="0">
              <a:solidFill>
                <a:srgbClr val="6E1E6F"/>
              </a:solidFill>
              <a:latin typeface="Verdana" panose="020B0604030504040204" pitchFamily="34" charset="0"/>
            </a:endParaRPr>
          </a:p>
        </p:txBody>
      </p:sp>
      <p:cxnSp>
        <p:nvCxnSpPr>
          <p:cNvPr id="9" name="直接连接符 8"/>
          <p:cNvCxnSpPr/>
          <p:nvPr userDrawn="1"/>
        </p:nvCxnSpPr>
        <p:spPr>
          <a:xfrm>
            <a:off x="1768475" y="1491615"/>
            <a:ext cx="3633470" cy="0"/>
          </a:xfrm>
          <a:prstGeom prst="line">
            <a:avLst/>
          </a:prstGeom>
          <a:ln w="28575">
            <a:solidFill>
              <a:srgbClr val="E7AA22"/>
            </a:solidFill>
          </a:ln>
        </p:spPr>
        <p:style>
          <a:lnRef idx="1">
            <a:schemeClr val="accent2"/>
          </a:lnRef>
          <a:fillRef idx="0">
            <a:schemeClr val="accent2"/>
          </a:fillRef>
          <a:effectRef idx="0">
            <a:schemeClr val="accent2"/>
          </a:effectRef>
          <a:fontRef idx="minor">
            <a:schemeClr val="tx1"/>
          </a:fontRef>
        </p:style>
      </p:cxnSp>
      <p:sp>
        <p:nvSpPr>
          <p:cNvPr id="14" name="日期占位符 13"/>
          <p:cNvSpPr>
            <a:spLocks noGrp="1"/>
          </p:cNvSpPr>
          <p:nvPr>
            <p:ph type="dt" sz="half" idx="2"/>
          </p:nvPr>
        </p:nvSpPr>
        <p:spPr>
          <a:xfrm>
            <a:off x="838200" y="6445887"/>
            <a:ext cx="2743200" cy="365125"/>
          </a:xfrm>
          <a:prstGeom prst="rect">
            <a:avLst/>
          </a:prstGeom>
        </p:spPr>
        <p:txBody>
          <a:bodyPr vert="horz" lIns="91440" tIns="45720" rIns="91440" bIns="45720" rtlCol="0" anchor="ctr"/>
          <a:lstStyle>
            <a:lvl1pPr algn="l">
              <a:defRPr sz="1200">
                <a:solidFill>
                  <a:schemeClr val="bg1"/>
                </a:solidFill>
              </a:defRPr>
            </a:lvl1pPr>
          </a:lstStyle>
          <a:p>
            <a:fld id="{BB962C8B-B14F-4D97-AF65-F5344CB8AC3E}" type="datetime1">
              <a:rPr lang="en-US" altLang="en-US" smtClean="0"/>
            </a:fld>
            <a:endParaRPr lang="zh-CN" altLang="en-US" smtClean="0"/>
          </a:p>
        </p:txBody>
      </p:sp>
      <p:sp>
        <p:nvSpPr>
          <p:cNvPr id="15" name="页脚占位符 14"/>
          <p:cNvSpPr>
            <a:spLocks noGrp="1"/>
          </p:cNvSpPr>
          <p:nvPr>
            <p:ph type="ftr" sz="quarter" idx="3"/>
          </p:nvPr>
        </p:nvSpPr>
        <p:spPr>
          <a:xfrm>
            <a:off x="4038600" y="6445887"/>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CN" altLang="en-US"/>
              <a:t>https://amit-s.medium.com/everything-you-need-to-know-about-knowledge-distillation-aka-teacher-student-model-d6ee10fe7276</a:t>
            </a:r>
            <a:endParaRPr lang="zh-CN" altLang="en-US"/>
          </a:p>
        </p:txBody>
      </p:sp>
      <p:sp>
        <p:nvSpPr>
          <p:cNvPr id="16" name="灯片编号占位符 15"/>
          <p:cNvSpPr>
            <a:spLocks noGrp="1"/>
          </p:cNvSpPr>
          <p:nvPr>
            <p:ph type="sldNum" sz="quarter" idx="4"/>
          </p:nvPr>
        </p:nvSpPr>
        <p:spPr>
          <a:xfrm>
            <a:off x="8610600" y="6445887"/>
            <a:ext cx="2743200" cy="365125"/>
          </a:xfrm>
          <a:prstGeom prst="rect">
            <a:avLst/>
          </a:prstGeom>
        </p:spPr>
        <p:txBody>
          <a:bodyPr vert="horz" lIns="91440" tIns="45720" rIns="91440" bIns="45720" rtlCol="0" anchor="ctr"/>
          <a:lstStyle>
            <a:lvl1pPr algn="r">
              <a:defRPr sz="1200">
                <a:solidFill>
                  <a:schemeClr val="bg1"/>
                </a:solidFill>
              </a:defRPr>
            </a:lvl1pPr>
          </a:lstStyle>
          <a:p>
            <a:fld id="{07E31664-F2F5-479F-9EE0-33FE33DF833E}" type="slidenum">
              <a:rPr lang="zh-CN" altLang="en-US" smtClean="0"/>
            </a:fld>
            <a:endParaRPr lang="zh-CN" altLang="en-US"/>
          </a:p>
        </p:txBody>
      </p:sp>
      <p:sp>
        <p:nvSpPr>
          <p:cNvPr id="18" name="文本占位符 17"/>
          <p:cNvSpPr>
            <a:spLocks noGrp="1"/>
          </p:cNvSpPr>
          <p:nvPr>
            <p:ph type="body" idx="10"/>
          </p:nvPr>
        </p:nvSpPr>
        <p:spPr>
          <a:xfrm>
            <a:off x="1768475" y="1809115"/>
            <a:ext cx="8651240" cy="4043045"/>
          </a:xfrm>
        </p:spPr>
        <p:txBody>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9" name="直接连接符 8"/>
          <p:cNvCxnSpPr/>
          <p:nvPr userDrawn="1"/>
        </p:nvCxnSpPr>
        <p:spPr>
          <a:xfrm>
            <a:off x="1768642" y="3584876"/>
            <a:ext cx="8655518" cy="0"/>
          </a:xfrm>
          <a:prstGeom prst="line">
            <a:avLst/>
          </a:prstGeom>
          <a:ln w="28575">
            <a:solidFill>
              <a:srgbClr val="E7AA22"/>
            </a:solidFill>
          </a:ln>
        </p:spPr>
        <p:style>
          <a:lnRef idx="1">
            <a:schemeClr val="accent2"/>
          </a:lnRef>
          <a:fillRef idx="0">
            <a:schemeClr val="accent2"/>
          </a:fillRef>
          <a:effectRef idx="0">
            <a:schemeClr val="accent2"/>
          </a:effectRef>
          <a:fontRef idx="minor">
            <a:schemeClr val="tx1"/>
          </a:fontRef>
        </p:style>
      </p:cxnSp>
      <p:sp>
        <p:nvSpPr>
          <p:cNvPr id="3" name="文本占位符 2"/>
          <p:cNvSpPr>
            <a:spLocks noGrp="1"/>
          </p:cNvSpPr>
          <p:nvPr>
            <p:ph type="body" idx="10" hasCustomPrompt="1"/>
          </p:nvPr>
        </p:nvSpPr>
        <p:spPr>
          <a:xfrm>
            <a:off x="1764030" y="2955290"/>
            <a:ext cx="8660130" cy="473710"/>
          </a:xfrm>
        </p:spPr>
        <p:txBody>
          <a:bodyPr/>
          <a:lstStyle>
            <a:lvl1pPr marL="0" indent="0">
              <a:buNone/>
              <a:defRPr b="1"/>
            </a:lvl1pPr>
          </a:lstStyle>
          <a:p>
            <a:pPr lvl="0"/>
            <a:r>
              <a:rPr lang="en-US" altLang="zh-CN" smtClean="0"/>
              <a:t>Section X </a:t>
            </a:r>
            <a:endParaRPr lang="en-US" altLang="zh-CN" smtClean="0"/>
          </a:p>
        </p:txBody>
      </p:sp>
      <p:sp>
        <p:nvSpPr>
          <p:cNvPr id="10" name="文本占位符 9"/>
          <p:cNvSpPr>
            <a:spLocks noGrp="1"/>
          </p:cNvSpPr>
          <p:nvPr>
            <p:ph type="body" idx="11" hasCustomPrompt="1"/>
          </p:nvPr>
        </p:nvSpPr>
        <p:spPr>
          <a:xfrm>
            <a:off x="1764030" y="3740150"/>
            <a:ext cx="8655050" cy="933450"/>
          </a:xfrm>
        </p:spPr>
        <p:txBody>
          <a:bodyPr/>
          <a:lstStyle>
            <a:lvl1pPr marL="0" indent="0">
              <a:buNone/>
              <a:defRPr sz="2000"/>
            </a:lvl1pPr>
            <a:lvl3pPr marL="914400" indent="0">
              <a:buNone/>
              <a:defRPr/>
            </a:lvl3pPr>
          </a:lstStyle>
          <a:p>
            <a:pPr lvl="0"/>
            <a:r>
              <a:rPr lang="en-US" altLang="zh-CN" smtClean="0"/>
              <a:t>Discreption</a:t>
            </a:r>
            <a:endParaRPr lang="en-US" altLang="zh-CN" smtClean="0"/>
          </a:p>
        </p:txBody>
      </p:sp>
      <p:sp>
        <p:nvSpPr>
          <p:cNvPr id="11" name="日期占位符 10"/>
          <p:cNvSpPr>
            <a:spLocks noGrp="1"/>
          </p:cNvSpPr>
          <p:nvPr>
            <p:ph type="dt" sz="half" idx="2"/>
          </p:nvPr>
        </p:nvSpPr>
        <p:spPr>
          <a:xfrm>
            <a:off x="838200" y="6445887"/>
            <a:ext cx="2743200" cy="365125"/>
          </a:xfrm>
          <a:prstGeom prst="rect">
            <a:avLst/>
          </a:prstGeom>
        </p:spPr>
        <p:txBody>
          <a:bodyPr vert="horz" lIns="91440" tIns="45720" rIns="91440" bIns="45720" rtlCol="0" anchor="ctr"/>
          <a:lstStyle>
            <a:lvl1pPr algn="l">
              <a:defRPr sz="1200">
                <a:solidFill>
                  <a:schemeClr val="bg1"/>
                </a:solidFill>
              </a:defRPr>
            </a:lvl1pPr>
          </a:lstStyle>
          <a:p>
            <a:fld id="{BB962C8B-B14F-4D97-AF65-F5344CB8AC3E}" type="datetime1">
              <a:rPr lang="en-US" altLang="en-US" smtClean="0"/>
            </a:fld>
            <a:endParaRPr lang="zh-CN" altLang="en-US" smtClean="0"/>
          </a:p>
        </p:txBody>
      </p:sp>
      <p:sp>
        <p:nvSpPr>
          <p:cNvPr id="12" name="页脚占位符 11"/>
          <p:cNvSpPr>
            <a:spLocks noGrp="1"/>
          </p:cNvSpPr>
          <p:nvPr>
            <p:ph type="ftr" sz="quarter" idx="3"/>
          </p:nvPr>
        </p:nvSpPr>
        <p:spPr>
          <a:xfrm>
            <a:off x="4038600" y="6445887"/>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CN" altLang="en-US"/>
              <a:t>https://amit-s.medium.com/everything-you-need-to-know-about-knowledge-distillation-aka-teacher-student-model-d6ee10fe7276</a:t>
            </a:r>
            <a:endParaRPr lang="zh-CN" altLang="en-US"/>
          </a:p>
        </p:txBody>
      </p:sp>
      <p:sp>
        <p:nvSpPr>
          <p:cNvPr id="13" name="灯片编号占位符 12"/>
          <p:cNvSpPr>
            <a:spLocks noGrp="1"/>
          </p:cNvSpPr>
          <p:nvPr>
            <p:ph type="sldNum" sz="quarter" idx="4"/>
          </p:nvPr>
        </p:nvSpPr>
        <p:spPr>
          <a:xfrm>
            <a:off x="8610600" y="6445887"/>
            <a:ext cx="2743200" cy="365125"/>
          </a:xfrm>
          <a:prstGeom prst="rect">
            <a:avLst/>
          </a:prstGeom>
        </p:spPr>
        <p:txBody>
          <a:bodyPr vert="horz" lIns="91440" tIns="45720" rIns="91440" bIns="45720" rtlCol="0" anchor="ctr"/>
          <a:lstStyle>
            <a:lvl1pPr algn="r">
              <a:defRPr sz="1200">
                <a:solidFill>
                  <a:schemeClr val="bg1"/>
                </a:solidFill>
              </a:defRPr>
            </a:lvl1pPr>
          </a:lstStyle>
          <a:p>
            <a:fld id="{07E31664-F2F5-479F-9EE0-33FE33DF833E}" type="slidenum">
              <a:rPr lang="zh-CN" altLang="en-US" smtClean="0"/>
            </a:fld>
            <a:endParaRPr lang="zh-CN" alt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矩形 1"/>
          <p:cNvSpPr/>
          <p:nvPr userDrawn="1"/>
        </p:nvSpPr>
        <p:spPr>
          <a:xfrm>
            <a:off x="0" y="6355080"/>
            <a:ext cx="12192000" cy="502920"/>
          </a:xfrm>
          <a:prstGeom prst="rect">
            <a:avLst/>
          </a:prstGeom>
          <a:solidFill>
            <a:srgbClr val="6E1E6F"/>
          </a:solidFill>
          <a:ln>
            <a:solidFill>
              <a:srgbClr val="6E1E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bg2"/>
              </a:solidFill>
              <a:latin typeface="Verdana" panose="020B0604030504040204" pitchFamily="34" charset="0"/>
            </a:endParaRPr>
          </a:p>
        </p:txBody>
      </p:sp>
      <p:sp>
        <p:nvSpPr>
          <p:cNvPr id="7" name="矩形 6"/>
          <p:cNvSpPr/>
          <p:nvPr userDrawn="1"/>
        </p:nvSpPr>
        <p:spPr>
          <a:xfrm>
            <a:off x="0" y="0"/>
            <a:ext cx="12192000" cy="857250"/>
          </a:xfrm>
          <a:prstGeom prst="rect">
            <a:avLst/>
          </a:prstGeom>
          <a:solidFill>
            <a:srgbClr val="6E1E6F"/>
          </a:solidFill>
          <a:ln>
            <a:solidFill>
              <a:srgbClr val="6E1E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zh-CN" sz="2800" b="1" dirty="0">
              <a:solidFill>
                <a:schemeClr val="bg2"/>
              </a:solidFill>
              <a:latin typeface="Verdana" panose="020B0604030504040204" pitchFamily="34" charset="0"/>
            </a:endParaRPr>
          </a:p>
        </p:txBody>
      </p:sp>
      <p:sp>
        <p:nvSpPr>
          <p:cNvPr id="3" name="内容占位符 2"/>
          <p:cNvSpPr>
            <a:spLocks noGrp="1"/>
          </p:cNvSpPr>
          <p:nvPr>
            <p:ph idx="13" hasCustomPrompt="1"/>
          </p:nvPr>
        </p:nvSpPr>
        <p:spPr>
          <a:xfrm>
            <a:off x="1492250" y="1447165"/>
            <a:ext cx="9288145" cy="683260"/>
          </a:xfrm>
        </p:spPr>
        <p:txBody>
          <a:bodyPr/>
          <a:lstStyle>
            <a:lvl1pPr marL="0" indent="0">
              <a:buNone/>
              <a:defRPr/>
            </a:lvl1pPr>
            <a:lvl2pPr marL="457200" indent="0">
              <a:buNone/>
              <a:defRPr/>
            </a:lvl2pPr>
          </a:lstStyle>
          <a:p>
            <a:pPr>
              <a:lnSpc>
                <a:spcPct val="150000"/>
              </a:lnSpc>
            </a:pPr>
            <a:r>
              <a:rPr lang="en-US" altLang="zh-CN" b="1" dirty="0">
                <a:solidFill>
                  <a:srgbClr val="6E1E6F"/>
                </a:solidFill>
                <a:latin typeface="Verdana" panose="020B0604030504040204" pitchFamily="34" charset="0"/>
                <a:ea typeface="Verdana" panose="020B0604030504040204" pitchFamily="34" charset="0"/>
                <a:sym typeface="+mn-ea"/>
              </a:rPr>
              <a:t>Content</a:t>
            </a:r>
            <a:endParaRPr lang="zh-CN" altLang="en-US" smtClean="0"/>
          </a:p>
        </p:txBody>
      </p:sp>
      <p:sp>
        <p:nvSpPr>
          <p:cNvPr id="11" name="文本占位符 10"/>
          <p:cNvSpPr>
            <a:spLocks noGrp="1"/>
          </p:cNvSpPr>
          <p:nvPr>
            <p:ph type="body" idx="14"/>
          </p:nvPr>
        </p:nvSpPr>
        <p:spPr>
          <a:xfrm>
            <a:off x="1492250" y="2357755"/>
            <a:ext cx="9288145" cy="3770630"/>
          </a:xfrm>
        </p:spPr>
        <p:txBody>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10"/>
          </p:nvPr>
        </p:nvSpPr>
        <p:spPr/>
        <p:txBody>
          <a:bodyPr/>
          <a:lstStyle>
            <a:lvl1pPr>
              <a:defRPr>
                <a:solidFill>
                  <a:schemeClr val="bg1"/>
                </a:solidFill>
              </a:defRPr>
            </a:lvl1pPr>
          </a:lstStyle>
          <a:p>
            <a:fld id="{BB962C8B-B14F-4D97-AF65-F5344CB8AC3E}" type="datetime1">
              <a:rPr lang="en-US" altLang="en-US" smtClean="0"/>
            </a:fld>
            <a:endParaRPr lang="zh-CN" altLang="en-US" smtClean="0"/>
          </a:p>
        </p:txBody>
      </p:sp>
      <p:sp>
        <p:nvSpPr>
          <p:cNvPr id="5" name="页脚占位符 4"/>
          <p:cNvSpPr>
            <a:spLocks noGrp="1"/>
          </p:cNvSpPr>
          <p:nvPr>
            <p:ph type="ftr" sz="quarter" idx="11"/>
          </p:nvPr>
        </p:nvSpPr>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p:txBody>
          <a:bodyPr/>
          <a:lstStyle>
            <a:lvl1pPr>
              <a:defRPr>
                <a:solidFill>
                  <a:schemeClr val="bg1"/>
                </a:solidFill>
              </a:defRPr>
            </a:lvl1pPr>
          </a:lstStyle>
          <a:p>
            <a:fld id="{07E31664-F2F5-479F-9EE0-33FE33DF833E}" type="slidenum">
              <a:rPr lang="zh-CN" altLang="en-US" smtClean="0"/>
            </a:fld>
            <a:endParaRPr lang="zh-CN" altLang="en-US"/>
          </a:p>
        </p:txBody>
      </p:sp>
      <p:sp>
        <p:nvSpPr>
          <p:cNvPr id="16" name="文本占位符 15"/>
          <p:cNvSpPr>
            <a:spLocks noGrp="1"/>
          </p:cNvSpPr>
          <p:nvPr>
            <p:ph type="body" idx="15" hasCustomPrompt="1"/>
          </p:nvPr>
        </p:nvSpPr>
        <p:spPr>
          <a:xfrm>
            <a:off x="0" y="200025"/>
            <a:ext cx="12192000" cy="473710"/>
          </a:xfrm>
        </p:spPr>
        <p:txBody>
          <a:bodyPr/>
          <a:lstStyle>
            <a:lvl1pPr marL="0" indent="0">
              <a:buNone/>
              <a:defRPr b="1">
                <a:solidFill>
                  <a:schemeClr val="bg1"/>
                </a:solidFill>
              </a:defRPr>
            </a:lvl1pPr>
          </a:lstStyle>
          <a:p>
            <a:pPr lvl="0"/>
            <a:r>
              <a:rPr lang="en-US" altLang="zh-CN" smtClean="0"/>
              <a:t>Section X </a:t>
            </a:r>
            <a:endParaRPr lang="en-US" altLang="zh-CN" smtClean="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矩形 1"/>
          <p:cNvSpPr/>
          <p:nvPr userDrawn="1"/>
        </p:nvSpPr>
        <p:spPr>
          <a:xfrm>
            <a:off x="0" y="6396990"/>
            <a:ext cx="12192000" cy="461010"/>
          </a:xfrm>
          <a:prstGeom prst="rect">
            <a:avLst/>
          </a:prstGeom>
          <a:solidFill>
            <a:srgbClr val="6E1E6F"/>
          </a:solidFill>
          <a:ln>
            <a:solidFill>
              <a:srgbClr val="6E1E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bg2"/>
              </a:solidFill>
              <a:latin typeface="Verdana" panose="020B0604030504040204" pitchFamily="34" charset="0"/>
            </a:endParaRPr>
          </a:p>
        </p:txBody>
      </p:sp>
      <p:sp>
        <p:nvSpPr>
          <p:cNvPr id="7" name="矩形 6"/>
          <p:cNvSpPr/>
          <p:nvPr userDrawn="1"/>
        </p:nvSpPr>
        <p:spPr>
          <a:xfrm>
            <a:off x="0" y="0"/>
            <a:ext cx="12192000" cy="857250"/>
          </a:xfrm>
          <a:prstGeom prst="rect">
            <a:avLst/>
          </a:prstGeom>
          <a:solidFill>
            <a:srgbClr val="6E1E6F"/>
          </a:solidFill>
          <a:ln>
            <a:solidFill>
              <a:srgbClr val="6E1E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bg2"/>
              </a:solidFill>
              <a:latin typeface="Verdana" panose="020B0604030504040204" pitchFamily="34" charset="0"/>
            </a:endParaRPr>
          </a:p>
        </p:txBody>
      </p:sp>
      <p:cxnSp>
        <p:nvCxnSpPr>
          <p:cNvPr id="12" name="直接连接符 11"/>
          <p:cNvCxnSpPr/>
          <p:nvPr userDrawn="1"/>
        </p:nvCxnSpPr>
        <p:spPr>
          <a:xfrm flipH="1">
            <a:off x="6085372" y="2128821"/>
            <a:ext cx="10160" cy="3977005"/>
          </a:xfrm>
          <a:prstGeom prst="line">
            <a:avLst/>
          </a:prstGeom>
          <a:ln w="28575">
            <a:solidFill>
              <a:srgbClr val="E7AA22"/>
            </a:solidFill>
          </a:ln>
        </p:spPr>
        <p:style>
          <a:lnRef idx="1">
            <a:schemeClr val="accent2"/>
          </a:lnRef>
          <a:fillRef idx="0">
            <a:schemeClr val="accent2"/>
          </a:fillRef>
          <a:effectRef idx="0">
            <a:schemeClr val="accent2"/>
          </a:effectRef>
          <a:fontRef idx="minor">
            <a:schemeClr val="tx1"/>
          </a:fontRef>
        </p:style>
      </p:cxnSp>
      <p:sp>
        <p:nvSpPr>
          <p:cNvPr id="13" name="文本占位符 12"/>
          <p:cNvSpPr>
            <a:spLocks noGrp="1"/>
          </p:cNvSpPr>
          <p:nvPr>
            <p:ph type="body" idx="13" hasCustomPrompt="1"/>
          </p:nvPr>
        </p:nvSpPr>
        <p:spPr>
          <a:xfrm>
            <a:off x="1095375" y="1440180"/>
            <a:ext cx="10055860" cy="535940"/>
          </a:xfrm>
        </p:spPr>
        <p:txBody>
          <a:bodyPr/>
          <a:lstStyle>
            <a:lvl1pPr marL="0" indent="0">
              <a:buNone/>
              <a:defRPr b="1"/>
            </a:lvl1pPr>
            <a:lvl2pPr marL="457200" indent="0">
              <a:buNone/>
              <a:defRPr/>
            </a:lvl2pPr>
          </a:lstStyle>
          <a:p>
            <a:pPr lvl="0"/>
            <a:r>
              <a:rPr lang="en-US" altLang="zh-CN" smtClean="0"/>
              <a:t>Content</a:t>
            </a:r>
            <a:endParaRPr lang="en-US" altLang="zh-CN" smtClean="0"/>
          </a:p>
        </p:txBody>
      </p:sp>
      <p:sp>
        <p:nvSpPr>
          <p:cNvPr id="14" name="文本占位符 13"/>
          <p:cNvSpPr>
            <a:spLocks noGrp="1"/>
          </p:cNvSpPr>
          <p:nvPr>
            <p:ph type="body" idx="14"/>
          </p:nvPr>
        </p:nvSpPr>
        <p:spPr>
          <a:xfrm>
            <a:off x="1095375" y="2138680"/>
            <a:ext cx="4767580" cy="3966845"/>
          </a:xfrm>
        </p:spPr>
        <p:txBody>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5" name="图片占位符 14"/>
          <p:cNvSpPr>
            <a:spLocks noGrp="1"/>
          </p:cNvSpPr>
          <p:nvPr>
            <p:ph type="pic" idx="15"/>
          </p:nvPr>
        </p:nvSpPr>
        <p:spPr>
          <a:xfrm>
            <a:off x="6328410" y="2138680"/>
            <a:ext cx="4822190" cy="311023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lang="zh-CN" altLang="en-US"/>
          </a:p>
        </p:txBody>
      </p:sp>
      <p:sp>
        <p:nvSpPr>
          <p:cNvPr id="16" name="文本占位符 15"/>
          <p:cNvSpPr>
            <a:spLocks noGrp="1"/>
          </p:cNvSpPr>
          <p:nvPr>
            <p:ph type="body" idx="16" hasCustomPrompt="1"/>
          </p:nvPr>
        </p:nvSpPr>
        <p:spPr>
          <a:xfrm>
            <a:off x="6328410" y="5437505"/>
            <a:ext cx="4831715" cy="349250"/>
          </a:xfrm>
        </p:spPr>
        <p:txBody>
          <a:bodyPr/>
          <a:lstStyle>
            <a:lvl1pPr marL="0" indent="0">
              <a:buNone/>
              <a:defRPr sz="1600"/>
            </a:lvl1pPr>
            <a:lvl5pPr marL="1828800" indent="0">
              <a:buNone/>
              <a:defRPr/>
            </a:lvl5pPr>
          </a:lstStyle>
          <a:p>
            <a:pPr marL="0" lvl="0"/>
            <a:r>
              <a:rPr lang="en-US" altLang="zh-CN" smtClean="0"/>
              <a:t>Figure X: Discreption</a:t>
            </a:r>
            <a:endParaRPr lang="en-US" altLang="zh-CN" smtClean="0"/>
          </a:p>
        </p:txBody>
      </p:sp>
      <p:sp>
        <p:nvSpPr>
          <p:cNvPr id="4" name="日期占位符 3"/>
          <p:cNvSpPr>
            <a:spLocks noGrp="1"/>
          </p:cNvSpPr>
          <p:nvPr>
            <p:ph type="dt" sz="half" idx="10"/>
          </p:nvPr>
        </p:nvSpPr>
        <p:spPr/>
        <p:txBody>
          <a:bodyPr/>
          <a:lstStyle>
            <a:lvl1pPr>
              <a:defRPr>
                <a:solidFill>
                  <a:schemeClr val="bg1"/>
                </a:solidFill>
              </a:defRPr>
            </a:lvl1pPr>
          </a:lstStyle>
          <a:p>
            <a:fld id="{BB962C8B-B14F-4D97-AF65-F5344CB8AC3E}" type="datetime1">
              <a:rPr lang="en-US" altLang="en-US" smtClean="0"/>
            </a:fld>
            <a:endParaRPr lang="zh-CN" altLang="en-US" smtClean="0"/>
          </a:p>
        </p:txBody>
      </p:sp>
      <p:sp>
        <p:nvSpPr>
          <p:cNvPr id="5" name="页脚占位符 4"/>
          <p:cNvSpPr>
            <a:spLocks noGrp="1"/>
          </p:cNvSpPr>
          <p:nvPr>
            <p:ph type="ftr" sz="quarter" idx="11"/>
          </p:nvPr>
        </p:nvSpPr>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p:txBody>
          <a:bodyPr/>
          <a:lstStyle>
            <a:lvl1pPr>
              <a:defRPr>
                <a:solidFill>
                  <a:schemeClr val="bg1"/>
                </a:solidFill>
              </a:defRPr>
            </a:lvl1pPr>
          </a:lstStyle>
          <a:p>
            <a:fld id="{07E31664-F2F5-479F-9EE0-33FE33DF833E}" type="slidenum">
              <a:rPr lang="zh-CN" altLang="en-US" smtClean="0"/>
            </a:fld>
            <a:endParaRPr lang="zh-CN" alt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矩形 1"/>
          <p:cNvSpPr/>
          <p:nvPr userDrawn="1"/>
        </p:nvSpPr>
        <p:spPr>
          <a:xfrm>
            <a:off x="0" y="6396990"/>
            <a:ext cx="12192000" cy="461010"/>
          </a:xfrm>
          <a:prstGeom prst="rect">
            <a:avLst/>
          </a:prstGeom>
          <a:solidFill>
            <a:srgbClr val="6E1E6F"/>
          </a:solidFill>
          <a:ln>
            <a:solidFill>
              <a:srgbClr val="6E1E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bg2"/>
              </a:solidFill>
              <a:latin typeface="Verdana" panose="020B0604030504040204" pitchFamily="34" charset="0"/>
            </a:endParaRPr>
          </a:p>
        </p:txBody>
      </p:sp>
      <p:sp>
        <p:nvSpPr>
          <p:cNvPr id="7" name="矩形 6"/>
          <p:cNvSpPr/>
          <p:nvPr userDrawn="1"/>
        </p:nvSpPr>
        <p:spPr>
          <a:xfrm>
            <a:off x="0" y="0"/>
            <a:ext cx="12192000" cy="857250"/>
          </a:xfrm>
          <a:prstGeom prst="rect">
            <a:avLst/>
          </a:prstGeom>
          <a:solidFill>
            <a:srgbClr val="6E1E6F"/>
          </a:solidFill>
          <a:ln>
            <a:solidFill>
              <a:srgbClr val="6E1E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bg2"/>
              </a:solidFill>
              <a:latin typeface="Verdana" panose="020B0604030504040204" pitchFamily="34" charset="0"/>
            </a:endParaRPr>
          </a:p>
        </p:txBody>
      </p:sp>
      <p:sp>
        <p:nvSpPr>
          <p:cNvPr id="10" name="图片占位符 9"/>
          <p:cNvSpPr>
            <a:spLocks noGrp="1"/>
          </p:cNvSpPr>
          <p:nvPr>
            <p:ph type="pic" idx="15"/>
          </p:nvPr>
        </p:nvSpPr>
        <p:spPr>
          <a:xfrm>
            <a:off x="6328410" y="2138680"/>
            <a:ext cx="4822190" cy="311023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lang="zh-CN" altLang="en-US"/>
          </a:p>
        </p:txBody>
      </p:sp>
      <p:sp>
        <p:nvSpPr>
          <p:cNvPr id="11" name="图片占位符 10"/>
          <p:cNvSpPr>
            <a:spLocks noGrp="1"/>
          </p:cNvSpPr>
          <p:nvPr>
            <p:ph type="pic" idx="13"/>
          </p:nvPr>
        </p:nvSpPr>
        <p:spPr>
          <a:xfrm>
            <a:off x="1040765" y="2096770"/>
            <a:ext cx="4822190" cy="311023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endParaRPr lang="zh-CN" altLang="en-US"/>
          </a:p>
        </p:txBody>
      </p:sp>
      <p:sp>
        <p:nvSpPr>
          <p:cNvPr id="16" name="文本占位符 15"/>
          <p:cNvSpPr>
            <a:spLocks noGrp="1"/>
          </p:cNvSpPr>
          <p:nvPr>
            <p:ph type="body" idx="16" hasCustomPrompt="1"/>
          </p:nvPr>
        </p:nvSpPr>
        <p:spPr>
          <a:xfrm>
            <a:off x="6328410" y="5437505"/>
            <a:ext cx="4831715" cy="349250"/>
          </a:xfrm>
        </p:spPr>
        <p:txBody>
          <a:bodyPr/>
          <a:lstStyle>
            <a:lvl1pPr marL="0" indent="0">
              <a:buNone/>
              <a:defRPr sz="1600"/>
            </a:lvl1pPr>
            <a:lvl5pPr marL="1828800" indent="0">
              <a:buNone/>
              <a:defRPr/>
            </a:lvl5pPr>
          </a:lstStyle>
          <a:p>
            <a:pPr marL="0" lvl="0"/>
            <a:r>
              <a:rPr lang="en-US" altLang="zh-CN" smtClean="0"/>
              <a:t>Figure X: Discreption</a:t>
            </a:r>
            <a:endParaRPr lang="en-US" altLang="zh-CN" smtClean="0"/>
          </a:p>
        </p:txBody>
      </p:sp>
      <p:sp>
        <p:nvSpPr>
          <p:cNvPr id="17" name="文本占位符 16"/>
          <p:cNvSpPr>
            <a:spLocks noGrp="1"/>
          </p:cNvSpPr>
          <p:nvPr>
            <p:ph type="body" idx="17" hasCustomPrompt="1"/>
          </p:nvPr>
        </p:nvSpPr>
        <p:spPr>
          <a:xfrm>
            <a:off x="1031240" y="5437505"/>
            <a:ext cx="4831715" cy="349250"/>
          </a:xfrm>
        </p:spPr>
        <p:txBody>
          <a:bodyPr/>
          <a:lstStyle>
            <a:lvl1pPr marL="0" indent="0">
              <a:buNone/>
              <a:defRPr sz="1600"/>
            </a:lvl1pPr>
            <a:lvl5pPr marL="1828800" indent="0">
              <a:buNone/>
              <a:defRPr/>
            </a:lvl5pPr>
          </a:lstStyle>
          <a:p>
            <a:pPr marL="0" lvl="0"/>
            <a:r>
              <a:rPr lang="en-US" altLang="zh-CN" smtClean="0"/>
              <a:t>Figure X: Discreption</a:t>
            </a:r>
            <a:endParaRPr lang="en-US" altLang="zh-CN" smtClean="0"/>
          </a:p>
        </p:txBody>
      </p:sp>
      <p:cxnSp>
        <p:nvCxnSpPr>
          <p:cNvPr id="18" name="直接连接符 17"/>
          <p:cNvCxnSpPr/>
          <p:nvPr userDrawn="1"/>
        </p:nvCxnSpPr>
        <p:spPr>
          <a:xfrm flipH="1">
            <a:off x="6085372" y="2128821"/>
            <a:ext cx="10160" cy="3977005"/>
          </a:xfrm>
          <a:prstGeom prst="line">
            <a:avLst/>
          </a:prstGeom>
          <a:ln w="28575">
            <a:solidFill>
              <a:srgbClr val="E7AA22"/>
            </a:solidFill>
          </a:ln>
        </p:spPr>
        <p:style>
          <a:lnRef idx="1">
            <a:schemeClr val="accent2"/>
          </a:lnRef>
          <a:fillRef idx="0">
            <a:schemeClr val="accent2"/>
          </a:fillRef>
          <a:effectRef idx="0">
            <a:schemeClr val="accent2"/>
          </a:effectRef>
          <a:fontRef idx="minor">
            <a:schemeClr val="tx1"/>
          </a:fontRef>
        </p:style>
      </p:cxnSp>
      <p:sp>
        <p:nvSpPr>
          <p:cNvPr id="19" name="文本占位符 18"/>
          <p:cNvSpPr>
            <a:spLocks noGrp="1"/>
          </p:cNvSpPr>
          <p:nvPr>
            <p:ph type="body" idx="18" hasCustomPrompt="1"/>
          </p:nvPr>
        </p:nvSpPr>
        <p:spPr>
          <a:xfrm>
            <a:off x="1095375" y="1440180"/>
            <a:ext cx="10055860" cy="535940"/>
          </a:xfrm>
        </p:spPr>
        <p:txBody>
          <a:bodyPr/>
          <a:lstStyle>
            <a:lvl1pPr marL="0" indent="0">
              <a:buNone/>
              <a:defRPr b="1"/>
            </a:lvl1pPr>
            <a:lvl2pPr marL="457200" indent="0">
              <a:buNone/>
              <a:defRPr/>
            </a:lvl2pPr>
          </a:lstStyle>
          <a:p>
            <a:pPr lvl="0"/>
            <a:r>
              <a:rPr lang="en-US" altLang="zh-CN" smtClean="0"/>
              <a:t>Content</a:t>
            </a:r>
            <a:endParaRPr lang="en-US" altLang="zh-CN" smtClean="0"/>
          </a:p>
        </p:txBody>
      </p:sp>
      <p:sp>
        <p:nvSpPr>
          <p:cNvPr id="4" name="日期占位符 3"/>
          <p:cNvSpPr>
            <a:spLocks noGrp="1"/>
          </p:cNvSpPr>
          <p:nvPr>
            <p:ph type="dt" sz="half" idx="10"/>
          </p:nvPr>
        </p:nvSpPr>
        <p:spPr/>
        <p:txBody>
          <a:bodyPr/>
          <a:lstStyle>
            <a:lvl1pPr>
              <a:defRPr>
                <a:solidFill>
                  <a:schemeClr val="bg1"/>
                </a:solidFill>
              </a:defRPr>
            </a:lvl1pPr>
          </a:lstStyle>
          <a:p>
            <a:fld id="{BB962C8B-B14F-4D97-AF65-F5344CB8AC3E}" type="datetime1">
              <a:rPr lang="en-US" altLang="en-US" smtClean="0"/>
            </a:fld>
            <a:endParaRPr lang="zh-CN" altLang="en-US" smtClean="0"/>
          </a:p>
        </p:txBody>
      </p:sp>
      <p:sp>
        <p:nvSpPr>
          <p:cNvPr id="5" name="页脚占位符 4"/>
          <p:cNvSpPr>
            <a:spLocks noGrp="1"/>
          </p:cNvSpPr>
          <p:nvPr>
            <p:ph type="ftr" sz="quarter" idx="11"/>
          </p:nvPr>
        </p:nvSpPr>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p:txBody>
          <a:bodyPr/>
          <a:lstStyle>
            <a:lvl1pPr>
              <a:defRPr>
                <a:solidFill>
                  <a:schemeClr val="bg1"/>
                </a:solidFill>
              </a:defRPr>
            </a:lvl1pPr>
          </a:lstStyle>
          <a:p>
            <a:fld id="{07E31664-F2F5-479F-9EE0-33FE33DF833E}" type="slidenum">
              <a:rPr lang="zh-CN" altLang="en-US" smtClean="0"/>
            </a:fld>
            <a:endParaRPr lang="zh-CN" altLang="en-US"/>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文本框 4"/>
          <p:cNvSpPr txBox="1"/>
          <p:nvPr userDrawn="1"/>
        </p:nvSpPr>
        <p:spPr>
          <a:xfrm>
            <a:off x="1863972" y="2768053"/>
            <a:ext cx="8451579" cy="1322070"/>
          </a:xfrm>
          <a:prstGeom prst="rect">
            <a:avLst/>
          </a:prstGeom>
          <a:noFill/>
        </p:spPr>
        <p:txBody>
          <a:bodyPr wrap="square" rtlCol="0">
            <a:spAutoFit/>
          </a:bodyPr>
          <a:lstStyle/>
          <a:p>
            <a:pPr algn="ctr"/>
            <a:r>
              <a:rPr lang="en-US" altLang="zh-CN" sz="4400" dirty="0">
                <a:solidFill>
                  <a:srgbClr val="6E1E6F"/>
                </a:solidFill>
                <a:latin typeface="Verdana" panose="020B0604030504040204" pitchFamily="34" charset="0"/>
                <a:ea typeface="Verdana" panose="020B0604030504040204" pitchFamily="34" charset="0"/>
              </a:rPr>
              <a:t>Thank You</a:t>
            </a:r>
            <a:endParaRPr lang="en-US" altLang="zh-CN" sz="4400" dirty="0">
              <a:solidFill>
                <a:srgbClr val="6E1E6F"/>
              </a:solidFill>
              <a:latin typeface="Verdana" panose="020B0604030504040204" pitchFamily="34" charset="0"/>
              <a:ea typeface="Verdana" panose="020B0604030504040204" pitchFamily="34" charset="0"/>
            </a:endParaRPr>
          </a:p>
          <a:p>
            <a:pPr algn="ctr"/>
            <a:r>
              <a:rPr lang="en-US" altLang="zh-CN" sz="3600" dirty="0">
                <a:solidFill>
                  <a:srgbClr val="6E1E6F"/>
                </a:solidFill>
                <a:latin typeface="Verdana" panose="020B0604030504040204" pitchFamily="34" charset="0"/>
              </a:rPr>
              <a:t>Please feel free to Question me :)))</a:t>
            </a:r>
            <a:endParaRPr lang="en-US" altLang="zh-CN" sz="3600" dirty="0">
              <a:solidFill>
                <a:srgbClr val="6E1E6F"/>
              </a:solidFill>
              <a:latin typeface="Verdana" panose="020B0604030504040204" pitchFamily="34" charset="0"/>
            </a:endParaRPr>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6" name="页脚占位符 5"/>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7" name="灯片编号占位符 6"/>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8" name="页脚占位符 7"/>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9" name="灯片编号占位符 8"/>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4" name="页脚占位符 3"/>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5" name="灯片编号占位符 4"/>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6" name="页脚占位符 5"/>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7" name="灯片编号占位符 6"/>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6" name="页脚占位符 5"/>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7" name="灯片编号占位符 6"/>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5" name="页脚占位符 4"/>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6" name="灯片编号占位符 5"/>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B962C8B-B14F-4D97-AF65-F5344CB8AC3E}" type="datetime1">
              <a:rPr lang="en-US" altLang="en-US" smtClean="0"/>
            </a:fld>
            <a:endParaRPr lang="zh-CN" altLang="en-US" smtClean="0"/>
          </a:p>
        </p:txBody>
      </p:sp>
      <p:sp>
        <p:nvSpPr>
          <p:cNvPr id="5" name="页脚占位符 4"/>
          <p:cNvSpPr>
            <a:spLocks noGrp="1"/>
          </p:cNvSpPr>
          <p:nvPr>
            <p:ph type="ftr" sz="quarter" idx="11"/>
          </p:nvPr>
        </p:nvSpPr>
        <p:spPr/>
        <p:txBody>
          <a:bodyPr/>
          <a:lstStyle/>
          <a:p>
            <a:r>
              <a:rPr lang="zh-CN" altLang="en-US"/>
              <a:t>https://amit-s.medium.com/everything-you-need-to-know-about-knowledge-distillation-aka-teacher-student-model-d6ee10fe7276</a:t>
            </a:r>
            <a:endParaRPr lang="zh-CN" altLang="en-US"/>
          </a:p>
        </p:txBody>
      </p:sp>
      <p:sp>
        <p:nvSpPr>
          <p:cNvPr id="6" name="灯片编号占位符 5"/>
          <p:cNvSpPr>
            <a:spLocks noGrp="1"/>
          </p:cNvSpPr>
          <p:nvPr>
            <p:ph type="sldNum" sz="quarter" idx="12"/>
          </p:nvPr>
        </p:nvSpPr>
        <p:spPr/>
        <p:txBody>
          <a:bodyPr/>
          <a:lstStyle/>
          <a:p>
            <a:fld id="{07E31664-F2F5-479F-9EE0-33FE33DF833E}" type="slidenum">
              <a:rPr lang="zh-CN" altLang="en-US" smtClean="0"/>
            </a:fld>
            <a:endParaRPr lang="zh-CN" altLang="en-US"/>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445887"/>
            <a:ext cx="2743200" cy="365125"/>
          </a:xfrm>
          <a:prstGeom prst="rect">
            <a:avLst/>
          </a:prstGeom>
        </p:spPr>
        <p:txBody>
          <a:bodyPr vert="horz" lIns="91440" tIns="45720" rIns="91440" bIns="45720" rtlCol="0" anchor="ctr"/>
          <a:lstStyle>
            <a:lvl1pPr algn="l">
              <a:defRPr sz="1200">
                <a:solidFill>
                  <a:schemeClr val="bg1"/>
                </a:solidFill>
              </a:defRPr>
            </a:lvl1pPr>
          </a:lstStyle>
          <a:p>
            <a:fld id="{BB962C8B-B14F-4D97-AF65-F5344CB8AC3E}" type="datetime1">
              <a:rPr lang="en-US" altLang="en-US" smtClean="0"/>
            </a:fld>
            <a:endParaRPr lang="zh-CN" altLang="en-US" smtClean="0"/>
          </a:p>
        </p:txBody>
      </p:sp>
      <p:sp>
        <p:nvSpPr>
          <p:cNvPr id="5" name="页脚占位符 4"/>
          <p:cNvSpPr>
            <a:spLocks noGrp="1"/>
          </p:cNvSpPr>
          <p:nvPr>
            <p:ph type="ftr" sz="quarter" idx="3"/>
          </p:nvPr>
        </p:nvSpPr>
        <p:spPr>
          <a:xfrm>
            <a:off x="4038600" y="6445887"/>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CN" altLang="en-US"/>
              <a:t>https://amit-s.medium.com/everything-you-need-to-know-about-knowledge-distillation-aka-teacher-student-model-d6ee10fe7276</a:t>
            </a:r>
            <a:endParaRPr lang="zh-CN" altLang="en-US"/>
          </a:p>
        </p:txBody>
      </p:sp>
      <p:sp>
        <p:nvSpPr>
          <p:cNvPr id="6" name="灯片编号占位符 5"/>
          <p:cNvSpPr>
            <a:spLocks noGrp="1"/>
          </p:cNvSpPr>
          <p:nvPr>
            <p:ph type="sldNum" sz="quarter" idx="4"/>
          </p:nvPr>
        </p:nvSpPr>
        <p:spPr>
          <a:xfrm>
            <a:off x="8610600" y="6445887"/>
            <a:ext cx="2743200" cy="365125"/>
          </a:xfrm>
          <a:prstGeom prst="rect">
            <a:avLst/>
          </a:prstGeom>
        </p:spPr>
        <p:txBody>
          <a:bodyPr vert="horz" lIns="91440" tIns="45720" rIns="91440" bIns="45720" rtlCol="0" anchor="ctr"/>
          <a:lstStyle>
            <a:lvl1pPr algn="r">
              <a:defRPr sz="1200">
                <a:solidFill>
                  <a:schemeClr val="bg1"/>
                </a:solidFill>
              </a:defRPr>
            </a:lvl1pPr>
          </a:lstStyle>
          <a:p>
            <a:fld id="{07E31664-F2F5-479F-9EE0-33FE33DF833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6.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tags" Target="../tags/tag1.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tags" Target="../tags/tag2.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4" Type="http://schemas.openxmlformats.org/officeDocument/2006/relationships/notesSlide" Target="../notesSlides/notesSlide7.xml"/><Relationship Id="rId13" Type="http://schemas.openxmlformats.org/officeDocument/2006/relationships/slideLayout" Target="../slideLayouts/slideLayout4.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0"/>
          </p:nvPr>
        </p:nvSpPr>
        <p:spPr/>
        <p:txBody>
          <a:bodyPr>
            <a:normAutofit fontScale="90000"/>
          </a:bodyPr>
          <a:p>
            <a:r>
              <a:rPr lang="en-US" altLang="zh-CN" b="1"/>
              <a:t>Intelligent Risk Dual-Core Engine </a:t>
            </a:r>
            <a:r>
              <a:rPr lang="en-US" altLang="zh-CN" b="1"/>
              <a:t>for Virtual Bank</a:t>
            </a:r>
            <a:endParaRPr lang="en-US" altLang="zh-CN" b="1"/>
          </a:p>
        </p:txBody>
      </p:sp>
      <p:sp>
        <p:nvSpPr>
          <p:cNvPr id="3" name="文本占位符 2"/>
          <p:cNvSpPr>
            <a:spLocks noGrp="1"/>
          </p:cNvSpPr>
          <p:nvPr>
            <p:ph type="body" idx="11"/>
          </p:nvPr>
        </p:nvSpPr>
        <p:spPr>
          <a:xfrm>
            <a:off x="1078865" y="2790825"/>
            <a:ext cx="9765665" cy="398145"/>
          </a:xfrm>
        </p:spPr>
        <p:txBody>
          <a:bodyPr>
            <a:normAutofit fontScale="80000"/>
          </a:bodyPr>
          <a:p>
            <a:r>
              <a:rPr lang="en-US" altLang="zh-CN"/>
              <a:t>A Decision System Fusing Multi-Modal AI Underwriting with Dynamic Provision Optimization</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4294967295"/>
          </p:nvPr>
        </p:nvSpPr>
        <p:spPr>
          <a:xfrm>
            <a:off x="1768475" y="1880235"/>
            <a:ext cx="8630285" cy="3844925"/>
          </a:xfrm>
        </p:spPr>
        <p:txBody>
          <a:bodyPr/>
          <a:p>
            <a:r>
              <a:rPr lang="en-US" altLang="zh-CN"/>
              <a:t>Section X: Meth</a:t>
            </a:r>
            <a:r>
              <a:rPr lang="en-US" altLang="zh-CN"/>
              <a:t>odology and Experiments</a:t>
            </a:r>
            <a:endParaRPr lang="en-US" altLang="zh-CN"/>
          </a:p>
        </p:txBody>
      </p:sp>
      <p:sp>
        <p:nvSpPr>
          <p:cNvPr id="3" name="日期占位符 2"/>
          <p:cNvSpPr>
            <a:spLocks noGrp="1"/>
          </p:cNvSpPr>
          <p:nvPr>
            <p:ph type="dt" sz="half" idx="2"/>
          </p:nvPr>
        </p:nvSpPr>
        <p:spPr/>
        <p:txBody>
          <a:bodyPr/>
          <a:p>
            <a:fld id="{BB962C8B-B14F-4D97-AF65-F5344CB8AC3E}" type="datetime1">
              <a:rPr lang="en-US" altLang="en-US" smtClean="0"/>
            </a:fld>
            <a:endParaRPr lang="zh-CN" altLang="en-US" smtClean="0"/>
          </a:p>
        </p:txBody>
      </p:sp>
      <p:sp>
        <p:nvSpPr>
          <p:cNvPr id="4" name="灯片编号占位符 3"/>
          <p:cNvSpPr>
            <a:spLocks noGrp="1"/>
          </p:cNvSpPr>
          <p:nvPr>
            <p:ph type="sldNum" sz="quarter" idx="4"/>
          </p:nvPr>
        </p:nvSpPr>
        <p:spPr/>
        <p:txBody>
          <a:bodyPr/>
          <a:p>
            <a:fld id="{07E31664-F2F5-479F-9EE0-33FE33DF833E}" type="slidenum">
              <a:rPr lang="zh-CN" altLang="en-US" smtClean="0"/>
            </a:fld>
            <a:endParaRPr lang="zh-CN" altLang="en-US"/>
          </a:p>
        </p:txBody>
      </p:sp>
      <p:sp>
        <p:nvSpPr>
          <p:cNvPr id="5" name="页脚占位符 4"/>
          <p:cNvSpPr>
            <a:spLocks noGrp="1"/>
          </p:cNvSpPr>
          <p:nvPr>
            <p:ph type="ftr" sz="quarter" idx="3"/>
          </p:nvPr>
        </p:nvSpPr>
        <p:spPr/>
        <p:txBody>
          <a:bodyPr/>
          <a:p>
            <a:r>
              <a:rPr lang="zh-CN" altLang="en-US"/>
              <a:t>https://amit-s.medium.com/everything-you-need-to-know-about-knowledge-distillation-aka-teacher-student-model-d6ee10fe7276</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0"/>
          </p:nvPr>
        </p:nvSpPr>
        <p:spPr/>
        <p:txBody>
          <a:bodyPr>
            <a:normAutofit fontScale="90000"/>
          </a:bodyPr>
          <a:p>
            <a:r>
              <a:rPr lang="en-US" altLang="zh-CN"/>
              <a:t>Section X: </a:t>
            </a:r>
            <a:r>
              <a:rPr lang="en-US" altLang="zh-CN">
                <a:sym typeface="+mn-ea"/>
              </a:rPr>
              <a:t>Methodology and Experiments</a:t>
            </a:r>
            <a:endParaRPr lang="en-US" altLang="zh-CN"/>
          </a:p>
          <a:p>
            <a:endParaRPr lang="en-US" altLang="zh-CN"/>
          </a:p>
        </p:txBody>
      </p:sp>
      <p:sp>
        <p:nvSpPr>
          <p:cNvPr id="3" name="文本占位符 2"/>
          <p:cNvSpPr>
            <a:spLocks noGrp="1"/>
          </p:cNvSpPr>
          <p:nvPr>
            <p:ph type="body" idx="11"/>
          </p:nvPr>
        </p:nvSpPr>
        <p:spPr/>
        <p:txBody>
          <a:bodyPr>
            <a:normAutofit lnSpcReduction="10000"/>
          </a:bodyPr>
          <a:p>
            <a:r>
              <a:rPr lang="en-US" altLang="zh-CN"/>
              <a:t>This </a:t>
            </a:r>
            <a:r>
              <a:rPr lang="en-US" altLang="zh-CN"/>
              <a:t>part shows the 2 components and their connection of the Virtual Bank loan recovery process. Experiments are to show the advantage of our model.</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3"/>
          </p:nvPr>
        </p:nvSpPr>
        <p:spPr>
          <a:xfrm>
            <a:off x="1492250" y="1447165"/>
            <a:ext cx="9288145" cy="557530"/>
          </a:xfrm>
        </p:spPr>
        <p:txBody>
          <a:bodyPr/>
          <a:p>
            <a:r>
              <a:rPr lang="en-US" altLang="zh-CN" b="1">
                <a:sym typeface="+mn-ea"/>
              </a:rPr>
              <a:t>Target Definition &amp; Motivation</a:t>
            </a:r>
            <a:endParaRPr lang="zh-CN" altLang="en-US" b="1"/>
          </a:p>
        </p:txBody>
      </p:sp>
      <p:pic>
        <p:nvPicPr>
          <p:cNvPr id="4" name="图片占位符 3" descr="Model Construction Framework"/>
          <p:cNvPicPr>
            <a:picLocks noChangeAspect="1"/>
          </p:cNvPicPr>
          <p:nvPr>
            <p:ph type="pic" idx="15"/>
          </p:nvPr>
        </p:nvPicPr>
        <p:blipFill>
          <a:blip r:embed="rId1"/>
          <a:stretch>
            <a:fillRect/>
          </a:stretch>
        </p:blipFill>
        <p:spPr>
          <a:xfrm>
            <a:off x="2451100" y="1922145"/>
            <a:ext cx="7289165" cy="4099560"/>
          </a:xfrm>
          <a:prstGeom prst="rect">
            <a:avLst/>
          </a:prstGeom>
        </p:spPr>
      </p:pic>
      <p:sp>
        <p:nvSpPr>
          <p:cNvPr id="6" name="文本占位符 5"/>
          <p:cNvSpPr>
            <a:spLocks noGrp="1"/>
          </p:cNvSpPr>
          <p:nvPr>
            <p:ph type="body" idx="16"/>
          </p:nvPr>
        </p:nvSpPr>
        <p:spPr>
          <a:xfrm>
            <a:off x="3450590" y="5862320"/>
            <a:ext cx="5289550" cy="304800"/>
          </a:xfrm>
        </p:spPr>
        <p:txBody>
          <a:bodyPr>
            <a:noAutofit/>
          </a:bodyPr>
          <a:p>
            <a:pPr marL="0" indent="0">
              <a:buNone/>
            </a:pPr>
            <a:r>
              <a:rPr lang="en-US" altLang="zh-CN" sz="1500" b="1"/>
              <a:t>Figure X: Business Process Framework</a:t>
            </a:r>
            <a:endParaRPr lang="en-US" altLang="zh-CN" sz="1500" b="1"/>
          </a:p>
        </p:txBody>
      </p:sp>
      <p:sp>
        <p:nvSpPr>
          <p:cNvPr id="7" name="日期占位符 6"/>
          <p:cNvSpPr>
            <a:spLocks noGrp="1"/>
          </p:cNvSpPr>
          <p:nvPr>
            <p:ph type="dt" sz="half" idx="10"/>
          </p:nvPr>
        </p:nvSpPr>
        <p:spPr/>
        <p:txBody>
          <a:bodyPr/>
          <a:p>
            <a:fld id="{BB962C8B-B14F-4D97-AF65-F5344CB8AC3E}" type="datetime1">
              <a:rPr lang="en-US" altLang="en-US" smtClean="0"/>
            </a:fld>
            <a:endParaRPr lang="zh-CN" altLang="en-US" smtClean="0"/>
          </a:p>
        </p:txBody>
      </p:sp>
      <p:sp>
        <p:nvSpPr>
          <p:cNvPr id="8" name="灯片编号占位符 7"/>
          <p:cNvSpPr>
            <a:spLocks noGrp="1"/>
          </p:cNvSpPr>
          <p:nvPr>
            <p:ph type="sldNum" sz="quarter" idx="12"/>
          </p:nvPr>
        </p:nvSpPr>
        <p:spPr/>
        <p:txBody>
          <a:bodyPr/>
          <a:p>
            <a:fld id="{07E31664-F2F5-479F-9EE0-33FE33DF833E}" type="slidenum">
              <a:rPr lang="zh-CN" altLang="en-US" smtClean="0"/>
            </a:fld>
            <a:endParaRPr lang="zh-CN" altLang="en-US"/>
          </a:p>
        </p:txBody>
      </p:sp>
      <p:sp>
        <p:nvSpPr>
          <p:cNvPr id="9" name="页脚占位符 8"/>
          <p:cNvSpPr>
            <a:spLocks noGrp="1"/>
          </p:cNvSpPr>
          <p:nvPr>
            <p:ph type="ftr" sz="quarter" idx="11"/>
          </p:nvPr>
        </p:nvSpPr>
        <p:spPr/>
        <p:txBody>
          <a:bodyPr/>
          <a:p>
            <a:endParaRPr lang="zh-CN" altLang="en-US"/>
          </a:p>
        </p:txBody>
      </p:sp>
      <p:sp>
        <p:nvSpPr>
          <p:cNvPr id="12" name="文本占位符 3"/>
          <p:cNvSpPr>
            <a:spLocks noGrp="1"/>
          </p:cNvSpPr>
          <p:nvPr/>
        </p:nvSpPr>
        <p:spPr>
          <a:xfrm>
            <a:off x="0" y="200025"/>
            <a:ext cx="12192000" cy="473710"/>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Section X: Methodology and Experiment</a:t>
            </a:r>
            <a:endParaRPr lang="zh-CN" altLang="en-US"/>
          </a:p>
        </p:txBody>
      </p:sp>
      <p:sp>
        <p:nvSpPr>
          <p:cNvPr id="13" name="文本框 12"/>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占位符 9"/>
          <p:cNvPicPr>
            <a:picLocks noChangeAspect="1"/>
          </p:cNvPicPr>
          <p:nvPr>
            <p:ph type="pic" idx="13"/>
          </p:nvPr>
        </p:nvPicPr>
        <p:blipFill>
          <a:blip r:embed="rId1"/>
          <a:stretch>
            <a:fillRect/>
          </a:stretch>
        </p:blipFill>
        <p:spPr>
          <a:xfrm>
            <a:off x="314325" y="2473325"/>
            <a:ext cx="5640070" cy="2775585"/>
          </a:xfrm>
          <a:prstGeom prst="rect">
            <a:avLst/>
          </a:prstGeom>
        </p:spPr>
      </p:pic>
      <p:sp>
        <p:nvSpPr>
          <p:cNvPr id="4" name="文本占位符 3"/>
          <p:cNvSpPr>
            <a:spLocks noGrp="1"/>
          </p:cNvSpPr>
          <p:nvPr>
            <p:ph type="body" idx="16"/>
          </p:nvPr>
        </p:nvSpPr>
        <p:spPr>
          <a:xfrm>
            <a:off x="6328410" y="5437505"/>
            <a:ext cx="5379085" cy="349250"/>
          </a:xfrm>
        </p:spPr>
        <p:txBody>
          <a:bodyPr>
            <a:noAutofit/>
          </a:bodyPr>
          <a:p>
            <a:r>
              <a:rPr lang="en-US" altLang="zh-CN"/>
              <a:t>Figure X: Customers discreption data generation </a:t>
            </a:r>
            <a:endParaRPr lang="en-US" altLang="zh-CN"/>
          </a:p>
        </p:txBody>
      </p:sp>
      <p:sp>
        <p:nvSpPr>
          <p:cNvPr id="5" name="文本占位符 4"/>
          <p:cNvSpPr>
            <a:spLocks noGrp="1"/>
          </p:cNvSpPr>
          <p:nvPr>
            <p:ph type="body" idx="17"/>
          </p:nvPr>
        </p:nvSpPr>
        <p:spPr/>
        <p:txBody>
          <a:bodyPr/>
          <a:p>
            <a:r>
              <a:rPr lang="en-US" altLang="zh-CN"/>
              <a:t>Figure X: Macro ratio</a:t>
            </a:r>
            <a:endParaRPr lang="en-US" altLang="zh-CN"/>
          </a:p>
        </p:txBody>
      </p:sp>
      <p:sp>
        <p:nvSpPr>
          <p:cNvPr id="6" name="文本占位符 5"/>
          <p:cNvSpPr>
            <a:spLocks noGrp="1"/>
          </p:cNvSpPr>
          <p:nvPr>
            <p:ph type="body" idx="18"/>
          </p:nvPr>
        </p:nvSpPr>
        <p:spPr/>
        <p:txBody>
          <a:bodyPr/>
          <a:p>
            <a:r>
              <a:rPr lang="en-US" altLang="zh-CN"/>
              <a:t>Data re-operation</a:t>
            </a:r>
            <a:endParaRPr lang="en-US" altLang="zh-CN"/>
          </a:p>
        </p:txBody>
      </p:sp>
      <p:sp>
        <p:nvSpPr>
          <p:cNvPr id="7" name="日期占位符 6"/>
          <p:cNvSpPr>
            <a:spLocks noGrp="1"/>
          </p:cNvSpPr>
          <p:nvPr>
            <p:ph type="dt" sz="half" idx="10"/>
          </p:nvPr>
        </p:nvSpPr>
        <p:spPr/>
        <p:txBody>
          <a:bodyPr/>
          <a:p>
            <a:fld id="{BB962C8B-B14F-4D97-AF65-F5344CB8AC3E}" type="datetime1">
              <a:rPr lang="en-US" altLang="en-US" smtClean="0"/>
            </a:fld>
            <a:endParaRPr lang="zh-CN" altLang="en-US" smtClean="0"/>
          </a:p>
        </p:txBody>
      </p:sp>
      <p:sp>
        <p:nvSpPr>
          <p:cNvPr id="8" name="灯片编号占位符 7"/>
          <p:cNvSpPr>
            <a:spLocks noGrp="1"/>
          </p:cNvSpPr>
          <p:nvPr>
            <p:ph type="sldNum" sz="quarter" idx="12"/>
          </p:nvPr>
        </p:nvSpPr>
        <p:spPr/>
        <p:txBody>
          <a:bodyPr/>
          <a:p>
            <a:fld id="{07E31664-F2F5-479F-9EE0-33FE33DF833E}" type="slidenum">
              <a:rPr lang="zh-CN" altLang="en-US" smtClean="0"/>
            </a:fld>
            <a:endParaRPr lang="zh-CN" altLang="en-US"/>
          </a:p>
        </p:txBody>
      </p:sp>
      <p:sp>
        <p:nvSpPr>
          <p:cNvPr id="9" name="页脚占位符 8"/>
          <p:cNvSpPr>
            <a:spLocks noGrp="1"/>
          </p:cNvSpPr>
          <p:nvPr>
            <p:ph type="ftr" sz="quarter" idx="11"/>
          </p:nvPr>
        </p:nvSpPr>
        <p:spPr>
          <a:xfrm>
            <a:off x="2076450" y="6445885"/>
            <a:ext cx="8666480" cy="365125"/>
          </a:xfrm>
        </p:spPr>
        <p:txBody>
          <a:bodyPr/>
          <a:p>
            <a:r>
              <a:rPr lang="en-US" altLang="zh-CN"/>
              <a:t>https://amit-s.medium.com/everything-you-need-to-know-about-knowledge-distillation-aka-teacher-student-model-d6ee10fe7276</a:t>
            </a:r>
            <a:endParaRPr lang="en-US" altLang="zh-CN"/>
          </a:p>
        </p:txBody>
      </p:sp>
      <p:grpSp>
        <p:nvGrpSpPr>
          <p:cNvPr id="14" name="组合 13"/>
          <p:cNvGrpSpPr/>
          <p:nvPr/>
        </p:nvGrpSpPr>
        <p:grpSpPr>
          <a:xfrm>
            <a:off x="6328410" y="1873885"/>
            <a:ext cx="5477510" cy="1449070"/>
            <a:chOff x="9788" y="3734"/>
            <a:chExt cx="8626" cy="2282"/>
          </a:xfrm>
        </p:grpSpPr>
        <p:pic>
          <p:nvPicPr>
            <p:cNvPr id="11" name="图片 10"/>
            <p:cNvPicPr/>
            <p:nvPr/>
          </p:nvPicPr>
          <p:blipFill>
            <a:blip r:embed="rId2"/>
            <a:stretch>
              <a:fillRect/>
            </a:stretch>
          </p:blipFill>
          <p:spPr>
            <a:xfrm>
              <a:off x="9788" y="3895"/>
              <a:ext cx="8626" cy="2121"/>
            </a:xfrm>
            <a:prstGeom prst="rect">
              <a:avLst/>
            </a:prstGeom>
          </p:spPr>
        </p:pic>
        <p:sp>
          <p:nvSpPr>
            <p:cNvPr id="13" name="乘号 12"/>
            <p:cNvSpPr/>
            <p:nvPr/>
          </p:nvSpPr>
          <p:spPr>
            <a:xfrm>
              <a:off x="15178" y="3734"/>
              <a:ext cx="2066" cy="2282"/>
            </a:xfrm>
            <a:prstGeom prst="mathMultiply">
              <a:avLst/>
            </a:prstGeom>
            <a:solidFill>
              <a:srgbClr val="FF0000"/>
            </a:solid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5" name="文本框 14"/>
          <p:cNvSpPr txBox="1"/>
          <p:nvPr/>
        </p:nvSpPr>
        <p:spPr>
          <a:xfrm>
            <a:off x="8056880" y="3874770"/>
            <a:ext cx="2204085" cy="1288415"/>
          </a:xfrm>
          <a:prstGeom prst="rect">
            <a:avLst/>
          </a:prstGeom>
        </p:spPr>
        <p:txBody>
          <a:bodyPr>
            <a:noAutofit/>
          </a:bodyPr>
          <a:p>
            <a:pPr>
              <a:lnSpc>
                <a:spcPts val="1140"/>
              </a:lnSpc>
            </a:pPr>
            <a:r>
              <a:rPr lang="en-US" altLang="zh-CN" sz="1400" b="0">
                <a:solidFill>
                  <a:srgbClr val="6E1E6F"/>
                </a:solidFill>
                <a:latin typeface="Consolas" panose="020B0609020204030204"/>
                <a:ea typeface="Consolas" panose="020B0609020204030204"/>
              </a:rPr>
              <a:t>As a trainer with 10 years of experience, I’ve built a stable career, but like many, I’ve accumulated credit card debt over time. Renting my home ...</a:t>
            </a:r>
            <a:endParaRPr lang="en-US" altLang="zh-CN" sz="1400" b="0">
              <a:solidFill>
                <a:srgbClr val="6E1E6F"/>
              </a:solidFill>
              <a:latin typeface="Consolas" panose="020B0609020204030204"/>
              <a:ea typeface="Consolas" panose="020B0609020204030204"/>
            </a:endParaRPr>
          </a:p>
        </p:txBody>
      </p:sp>
      <p:pic>
        <p:nvPicPr>
          <p:cNvPr id="16" name="图片 15"/>
          <p:cNvPicPr/>
          <p:nvPr/>
        </p:nvPicPr>
        <p:blipFill>
          <a:blip r:embed="rId3"/>
          <a:srcRect l="3717" t="15114" r="5428" b="19186"/>
          <a:stretch>
            <a:fillRect/>
          </a:stretch>
        </p:blipFill>
        <p:spPr>
          <a:xfrm>
            <a:off x="6717030" y="3909060"/>
            <a:ext cx="775970" cy="604520"/>
          </a:xfrm>
          <a:prstGeom prst="rect">
            <a:avLst/>
          </a:prstGeom>
        </p:spPr>
      </p:pic>
      <p:sp>
        <p:nvSpPr>
          <p:cNvPr id="19" name="文本框 18"/>
          <p:cNvSpPr txBox="1"/>
          <p:nvPr/>
        </p:nvSpPr>
        <p:spPr>
          <a:xfrm>
            <a:off x="6504940" y="4653915"/>
            <a:ext cx="1200150" cy="337185"/>
          </a:xfrm>
          <a:prstGeom prst="rect">
            <a:avLst/>
          </a:prstGeom>
        </p:spPr>
        <p:txBody>
          <a:bodyPr wrap="square">
            <a:spAutoFit/>
          </a:bodyPr>
          <a:p>
            <a:pPr marL="0" indent="0"/>
            <a:r>
              <a:rPr lang="en-US" altLang="zh-CN" sz="1600" b="0" i="0">
                <a:solidFill>
                  <a:srgbClr val="6E1E6F"/>
                </a:solidFill>
                <a:latin typeface="Verdana" panose="020B0604030504040204" pitchFamily="34" charset="0"/>
                <a:ea typeface="Inter"/>
                <a:cs typeface="Verdana" panose="020B0604030504040204" pitchFamily="34" charset="0"/>
              </a:rPr>
              <a:t>QwQ-32B</a:t>
            </a:r>
            <a:endParaRPr lang="en-US" altLang="zh-CN" sz="1600" b="0" i="0">
              <a:solidFill>
                <a:srgbClr val="6E1E6F"/>
              </a:solidFill>
              <a:latin typeface="Verdana" panose="020B0604030504040204" pitchFamily="34" charset="0"/>
              <a:ea typeface="Inter"/>
              <a:cs typeface="Verdana" panose="020B0604030504040204" pitchFamily="34" charset="0"/>
            </a:endParaRPr>
          </a:p>
        </p:txBody>
      </p:sp>
      <p:pic>
        <p:nvPicPr>
          <p:cNvPr id="21" name="图片 20"/>
          <p:cNvPicPr>
            <a:picLocks noChangeAspect="1"/>
          </p:cNvPicPr>
          <p:nvPr/>
        </p:nvPicPr>
        <p:blipFill>
          <a:blip r:embed="rId4"/>
          <a:stretch>
            <a:fillRect/>
          </a:stretch>
        </p:blipFill>
        <p:spPr>
          <a:xfrm>
            <a:off x="10612755" y="3909060"/>
            <a:ext cx="961390" cy="993775"/>
          </a:xfrm>
          <a:prstGeom prst="rect">
            <a:avLst/>
          </a:prstGeom>
        </p:spPr>
      </p:pic>
      <p:sp>
        <p:nvSpPr>
          <p:cNvPr id="22" name="右箭头 21"/>
          <p:cNvSpPr/>
          <p:nvPr/>
        </p:nvSpPr>
        <p:spPr>
          <a:xfrm>
            <a:off x="7743825" y="4241800"/>
            <a:ext cx="217170" cy="536575"/>
          </a:xfrm>
          <a:prstGeom prst="rightArrow">
            <a:avLst/>
          </a:prstGeom>
          <a:solidFill>
            <a:srgbClr val="6E1E6F"/>
          </a:solidFill>
          <a:ln>
            <a:solidFill>
              <a:srgbClr val="6E1E6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右箭头 22"/>
          <p:cNvSpPr/>
          <p:nvPr/>
        </p:nvSpPr>
        <p:spPr>
          <a:xfrm>
            <a:off x="10204450" y="4241800"/>
            <a:ext cx="217170" cy="536575"/>
          </a:xfrm>
          <a:prstGeom prst="rightArrow">
            <a:avLst/>
          </a:prstGeom>
          <a:solidFill>
            <a:srgbClr val="6E1E6F"/>
          </a:solidFill>
          <a:ln>
            <a:solidFill>
              <a:srgbClr val="6E1E6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占位符 3"/>
          <p:cNvSpPr>
            <a:spLocks noGrp="1"/>
          </p:cNvSpPr>
          <p:nvPr/>
        </p:nvSpPr>
        <p:spPr>
          <a:xfrm>
            <a:off x="0" y="200025"/>
            <a:ext cx="12192000" cy="473710"/>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Section X: Methodology and Experiment</a:t>
            </a:r>
            <a:endParaRPr lang="zh-CN" altLang="en-US"/>
          </a:p>
        </p:txBody>
      </p:sp>
      <p:sp>
        <p:nvSpPr>
          <p:cNvPr id="3" name="文本框 2"/>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3"/>
          </p:nvPr>
        </p:nvSpPr>
        <p:spPr/>
        <p:txBody>
          <a:bodyPr/>
          <a:p>
            <a:r>
              <a:rPr lang="en-US" altLang="zh-CN" b="1">
                <a:sym typeface="+mn-ea"/>
              </a:rPr>
              <a:t>Model Construction</a:t>
            </a:r>
            <a:endParaRPr lang="zh-CN" altLang="en-US" b="1"/>
          </a:p>
        </p:txBody>
      </p:sp>
      <p:pic>
        <p:nvPicPr>
          <p:cNvPr id="4" name="图片 3"/>
          <p:cNvPicPr>
            <a:picLocks noChangeAspect="1"/>
          </p:cNvPicPr>
          <p:nvPr/>
        </p:nvPicPr>
        <p:blipFill>
          <a:blip r:embed="rId1"/>
          <a:stretch>
            <a:fillRect/>
          </a:stretch>
        </p:blipFill>
        <p:spPr>
          <a:xfrm>
            <a:off x="1560830" y="1924685"/>
            <a:ext cx="7907020" cy="4289425"/>
          </a:xfrm>
          <a:prstGeom prst="rect">
            <a:avLst/>
          </a:prstGeom>
        </p:spPr>
      </p:pic>
      <p:pic>
        <p:nvPicPr>
          <p:cNvPr id="5" name="图片 4"/>
          <p:cNvPicPr>
            <a:picLocks noChangeAspect="1"/>
          </p:cNvPicPr>
          <p:nvPr/>
        </p:nvPicPr>
        <p:blipFill>
          <a:blip r:embed="rId2"/>
          <a:stretch>
            <a:fillRect/>
          </a:stretch>
        </p:blipFill>
        <p:spPr>
          <a:xfrm rot="5400000">
            <a:off x="8383905" y="3328035"/>
            <a:ext cx="3872865" cy="1285240"/>
          </a:xfrm>
          <a:prstGeom prst="rect">
            <a:avLst/>
          </a:prstGeom>
        </p:spPr>
      </p:pic>
      <p:sp>
        <p:nvSpPr>
          <p:cNvPr id="6" name="矩形 5"/>
          <p:cNvSpPr/>
          <p:nvPr>
            <p:custDataLst>
              <p:tags r:id="rId3"/>
            </p:custDataLst>
          </p:nvPr>
        </p:nvSpPr>
        <p:spPr>
          <a:xfrm>
            <a:off x="9553575" y="1938655"/>
            <a:ext cx="1409700" cy="4048125"/>
          </a:xfrm>
          <a:prstGeom prst="rect">
            <a:avLst/>
          </a:prstGeom>
          <a:solidFill>
            <a:schemeClr val="bg1">
              <a:alpha val="0"/>
            </a:schemeClr>
          </a:solid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sp>
        <p:nvSpPr>
          <p:cNvPr id="7" name="日期占位符 6"/>
          <p:cNvSpPr>
            <a:spLocks noGrp="1"/>
          </p:cNvSpPr>
          <p:nvPr>
            <p:ph type="dt" sz="half" idx="10"/>
          </p:nvPr>
        </p:nvSpPr>
        <p:spPr/>
        <p:txBody>
          <a:bodyPr/>
          <a:p>
            <a:fld id="{BB962C8B-B14F-4D97-AF65-F5344CB8AC3E}" type="datetime1">
              <a:rPr lang="en-US" altLang="en-US" smtClean="0"/>
            </a:fld>
            <a:endParaRPr lang="zh-CN" altLang="en-US" smtClean="0"/>
          </a:p>
        </p:txBody>
      </p:sp>
      <p:sp>
        <p:nvSpPr>
          <p:cNvPr id="8" name="灯片编号占位符 7"/>
          <p:cNvSpPr>
            <a:spLocks noGrp="1"/>
          </p:cNvSpPr>
          <p:nvPr>
            <p:ph type="sldNum" sz="quarter" idx="12"/>
          </p:nvPr>
        </p:nvSpPr>
        <p:spPr/>
        <p:txBody>
          <a:bodyPr/>
          <a:p>
            <a:fld id="{07E31664-F2F5-479F-9EE0-33FE33DF833E}" type="slidenum">
              <a:rPr lang="zh-CN" altLang="en-US" smtClean="0"/>
            </a:fld>
            <a:endParaRPr lang="zh-CN" altLang="en-US"/>
          </a:p>
        </p:txBody>
      </p:sp>
      <p:sp>
        <p:nvSpPr>
          <p:cNvPr id="9" name="页脚占位符 8"/>
          <p:cNvSpPr>
            <a:spLocks noGrp="1"/>
          </p:cNvSpPr>
          <p:nvPr>
            <p:ph type="ftr" sz="quarter" idx="11"/>
          </p:nvPr>
        </p:nvSpPr>
        <p:spPr/>
        <p:txBody>
          <a:bodyPr/>
          <a:p>
            <a:r>
              <a:rPr lang="en-US" altLang="zh-CN"/>
              <a:t>https://amit-s.medium.com/everything-you-need-to-know-about-knowledge-distillation-aka-teacher-student-model-d6ee10fe7276</a:t>
            </a:r>
            <a:endParaRPr lang="en-US" altLang="zh-CN"/>
          </a:p>
        </p:txBody>
      </p:sp>
      <p:sp>
        <p:nvSpPr>
          <p:cNvPr id="3" name="文本框 2"/>
          <p:cNvSpPr txBox="1"/>
          <p:nvPr/>
        </p:nvSpPr>
        <p:spPr>
          <a:xfrm>
            <a:off x="3718560" y="6015355"/>
            <a:ext cx="6096000" cy="321945"/>
          </a:xfrm>
          <a:prstGeom prst="rect">
            <a:avLst/>
          </a:prstGeom>
          <a:noFill/>
        </p:spPr>
        <p:txBody>
          <a:bodyPr wrap="square" rtlCol="0" anchor="t">
            <a:spAutoFit/>
          </a:bodyPr>
          <a:p>
            <a:pPr marL="0" indent="0">
              <a:buNone/>
            </a:pPr>
            <a:r>
              <a:rPr lang="en-US" altLang="zh-CN" sz="1500" b="1">
                <a:sym typeface="+mn-ea"/>
              </a:rPr>
              <a:t>Figure X: Model Construction Framework</a:t>
            </a:r>
            <a:endParaRPr lang="en-US" altLang="zh-CN" sz="1500" b="1">
              <a:sym typeface="+mn-ea"/>
            </a:endParaRPr>
          </a:p>
        </p:txBody>
      </p:sp>
      <p:sp>
        <p:nvSpPr>
          <p:cNvPr id="10" name="文本框 9"/>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
        <p:nvSpPr>
          <p:cNvPr id="11" name="文本占位符 10"/>
          <p:cNvSpPr>
            <a:spLocks noGrp="1"/>
          </p:cNvSpPr>
          <p:nvPr>
            <p:ph type="body" idx="15"/>
          </p:nvPr>
        </p:nvSpPr>
        <p:spPr>
          <a:xfrm>
            <a:off x="0" y="200025"/>
            <a:ext cx="10389870" cy="473710"/>
          </a:xfrm>
        </p:spPr>
        <p:txBody>
          <a:bodyPr>
            <a:normAutofit fontScale="90000"/>
          </a:bodyPr>
          <a:p>
            <a:r>
              <a:rPr lang="en-US" altLang="zh-CN"/>
              <a:t>Section X: Methodology and Experiment</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idx="16"/>
          </p:nvPr>
        </p:nvSpPr>
        <p:spPr>
          <a:xfrm>
            <a:off x="7526020" y="5437505"/>
            <a:ext cx="3366770" cy="349250"/>
          </a:xfrm>
        </p:spPr>
        <p:txBody>
          <a:bodyPr/>
          <a:p>
            <a:r>
              <a:rPr lang="en-US" altLang="zh-CN"/>
              <a:t>Figure X: Model explainability</a:t>
            </a:r>
            <a:endParaRPr lang="en-US" altLang="zh-CN"/>
          </a:p>
        </p:txBody>
      </p:sp>
      <p:sp>
        <p:nvSpPr>
          <p:cNvPr id="5" name="文本占位符 4"/>
          <p:cNvSpPr>
            <a:spLocks noGrp="1"/>
          </p:cNvSpPr>
          <p:nvPr>
            <p:ph type="body" idx="17"/>
          </p:nvPr>
        </p:nvSpPr>
        <p:spPr>
          <a:xfrm>
            <a:off x="1219835" y="4597400"/>
            <a:ext cx="3609975" cy="349250"/>
          </a:xfrm>
        </p:spPr>
        <p:txBody>
          <a:bodyPr/>
          <a:p>
            <a:r>
              <a:rPr lang="en-US" altLang="zh-CN"/>
              <a:t>Table X: </a:t>
            </a:r>
            <a:r>
              <a:rPr lang="en-US" altLang="zh-CN"/>
              <a:t>Model Result</a:t>
            </a:r>
            <a:endParaRPr lang="en-US" altLang="zh-CN"/>
          </a:p>
        </p:txBody>
      </p:sp>
      <p:sp>
        <p:nvSpPr>
          <p:cNvPr id="6" name="文本占位符 5"/>
          <p:cNvSpPr>
            <a:spLocks noGrp="1"/>
          </p:cNvSpPr>
          <p:nvPr>
            <p:ph type="body" idx="18"/>
          </p:nvPr>
        </p:nvSpPr>
        <p:spPr/>
        <p:txBody>
          <a:bodyPr/>
          <a:p>
            <a:r>
              <a:rPr lang="en-US" altLang="zh-CN"/>
              <a:t>Experiment </a:t>
            </a:r>
            <a:r>
              <a:rPr lang="en-US" altLang="zh-CN"/>
              <a:t>Results</a:t>
            </a:r>
            <a:endParaRPr lang="en-US" altLang="zh-CN"/>
          </a:p>
        </p:txBody>
      </p:sp>
      <p:sp>
        <p:nvSpPr>
          <p:cNvPr id="7" name="日期占位符 6"/>
          <p:cNvSpPr>
            <a:spLocks noGrp="1"/>
          </p:cNvSpPr>
          <p:nvPr>
            <p:ph type="dt" sz="half" idx="10"/>
          </p:nvPr>
        </p:nvSpPr>
        <p:spPr/>
        <p:txBody>
          <a:bodyPr/>
          <a:p>
            <a:fld id="{BB962C8B-B14F-4D97-AF65-F5344CB8AC3E}" type="datetime1">
              <a:rPr lang="en-US" altLang="zh-CN" smtClean="0"/>
            </a:fld>
            <a:endParaRPr lang="en-US" altLang="zh-CN" smtClean="0"/>
          </a:p>
        </p:txBody>
      </p:sp>
      <p:sp>
        <p:nvSpPr>
          <p:cNvPr id="8" name="灯片编号占位符 7"/>
          <p:cNvSpPr>
            <a:spLocks noGrp="1"/>
          </p:cNvSpPr>
          <p:nvPr>
            <p:ph type="sldNum" sz="quarter" idx="12"/>
          </p:nvPr>
        </p:nvSpPr>
        <p:spPr/>
        <p:txBody>
          <a:bodyPr/>
          <a:p>
            <a:fld id="{07E31664-F2F5-479F-9EE0-33FE33DF833E}" type="slidenum">
              <a:rPr lang="zh-CN" altLang="en-US" smtClean="0"/>
            </a:fld>
            <a:endParaRPr lang="zh-CN" altLang="en-US"/>
          </a:p>
        </p:txBody>
      </p:sp>
      <p:sp>
        <p:nvSpPr>
          <p:cNvPr id="9" name="页脚占位符 8"/>
          <p:cNvSpPr>
            <a:spLocks noGrp="1"/>
          </p:cNvSpPr>
          <p:nvPr>
            <p:ph type="ftr" sz="quarter" idx="11"/>
          </p:nvPr>
        </p:nvSpPr>
        <p:spPr/>
        <p:txBody>
          <a:bodyPr/>
          <a:p>
            <a:endParaRPr lang="zh-CN" altLang="en-US"/>
          </a:p>
        </p:txBody>
      </p:sp>
      <p:pic>
        <p:nvPicPr>
          <p:cNvPr id="10" name="图片 9"/>
          <p:cNvPicPr>
            <a:picLocks noChangeAspect="1"/>
          </p:cNvPicPr>
          <p:nvPr/>
        </p:nvPicPr>
        <p:blipFill>
          <a:blip r:embed="rId1"/>
          <a:stretch>
            <a:fillRect/>
          </a:stretch>
        </p:blipFill>
        <p:spPr>
          <a:xfrm>
            <a:off x="6328410" y="2399665"/>
            <a:ext cx="2412365" cy="2922905"/>
          </a:xfrm>
          <a:prstGeom prst="rect">
            <a:avLst/>
          </a:prstGeom>
        </p:spPr>
      </p:pic>
      <p:pic>
        <p:nvPicPr>
          <p:cNvPr id="11" name="图片 10" descr="image"/>
          <p:cNvPicPr>
            <a:picLocks noChangeAspect="1"/>
          </p:cNvPicPr>
          <p:nvPr/>
        </p:nvPicPr>
        <p:blipFill>
          <a:blip r:embed="rId2"/>
          <a:stretch>
            <a:fillRect/>
          </a:stretch>
        </p:blipFill>
        <p:spPr>
          <a:xfrm>
            <a:off x="8740775" y="3124835"/>
            <a:ext cx="3379470" cy="1472565"/>
          </a:xfrm>
          <a:prstGeom prst="rect">
            <a:avLst/>
          </a:prstGeom>
        </p:spPr>
      </p:pic>
      <p:graphicFrame>
        <p:nvGraphicFramePr>
          <p:cNvPr id="15" name="表格 14"/>
          <p:cNvGraphicFramePr/>
          <p:nvPr>
            <p:custDataLst>
              <p:tags r:id="rId3"/>
            </p:custDataLst>
          </p:nvPr>
        </p:nvGraphicFramePr>
        <p:xfrm>
          <a:off x="1219835" y="2887345"/>
          <a:ext cx="3610610" cy="1524000"/>
        </p:xfrm>
        <a:graphic>
          <a:graphicData uri="http://schemas.openxmlformats.org/drawingml/2006/table">
            <a:tbl>
              <a:tblPr firstRow="1" bandRow="1">
                <a:tableStyleId>{5C22544A-7EE6-4342-B048-85BDC9FD1C3A}</a:tableStyleId>
              </a:tblPr>
              <a:tblGrid>
                <a:gridCol w="1493520"/>
                <a:gridCol w="2117090"/>
              </a:tblGrid>
              <a:tr h="381000">
                <a:tc>
                  <a:txBody>
                    <a:bodyPr/>
                    <a:p>
                      <a:pPr algn="l"/>
                      <a:r>
                        <a:rPr lang="en-US" altLang="zh-CN" sz="1400" b="0" i="0">
                          <a:solidFill>
                            <a:schemeClr val="bg1"/>
                          </a:solidFill>
                          <a:latin typeface="Verdana" panose="020B0604030504040204" pitchFamily="34" charset="0"/>
                          <a:ea typeface="-apple-system"/>
                          <a:cs typeface="Verdana" panose="020B0604030504040204" pitchFamily="34" charset="0"/>
                        </a:rPr>
                        <a:t>Metric</a:t>
                      </a:r>
                      <a:endParaRPr lang="en-US" altLang="zh-CN" sz="1400" b="0" i="0">
                        <a:solidFill>
                          <a:schemeClr val="bg1"/>
                        </a:solidFill>
                        <a:latin typeface="Verdana" panose="020B0604030504040204" pitchFamily="34" charset="0"/>
                        <a:ea typeface="-apple-system"/>
                        <a:cs typeface="Verdana" panose="020B0604030504040204" pitchFamily="34" charset="0"/>
                      </a:endParaRPr>
                    </a:p>
                  </a:txBody>
                  <a:tcPr marL="99377" marR="99377" marT="46037" marB="46037" anchor="ctr" anchorCtr="0"/>
                </a:tc>
                <a:tc>
                  <a:txBody>
                    <a:bodyPr/>
                    <a:p>
                      <a:pPr algn="l"/>
                      <a:r>
                        <a:rPr lang="en-US" altLang="zh-CN" sz="1400" b="0" i="0">
                          <a:solidFill>
                            <a:schemeClr val="bg1"/>
                          </a:solidFill>
                          <a:latin typeface="Verdana" panose="020B0604030504040204" pitchFamily="34" charset="0"/>
                          <a:ea typeface="-apple-system"/>
                          <a:cs typeface="Verdana" panose="020B0604030504040204" pitchFamily="34" charset="0"/>
                        </a:rPr>
                        <a:t>Result (Mean ± Std)</a:t>
                      </a:r>
                      <a:endParaRPr lang="en-US" altLang="zh-CN" sz="1400" b="0" i="0">
                        <a:solidFill>
                          <a:schemeClr val="bg1"/>
                        </a:solidFill>
                        <a:latin typeface="Verdana" panose="020B0604030504040204" pitchFamily="34" charset="0"/>
                        <a:ea typeface="-apple-system"/>
                        <a:cs typeface="Verdana" panose="020B0604030504040204" pitchFamily="34" charset="0"/>
                      </a:endParaRPr>
                    </a:p>
                  </a:txBody>
                  <a:tcPr marL="99377" marR="99377" marT="46037" marB="46037" anchor="ctr" anchorCtr="0"/>
                </a:tc>
              </a:tr>
              <a:tr h="381000">
                <a:tc>
                  <a:txBody>
                    <a:bodyPr/>
                    <a:p>
                      <a:pPr algn="l">
                        <a:spcAft>
                          <a:spcPct val="0"/>
                        </a:spcAft>
                      </a:pPr>
                      <a:r>
                        <a:rPr lang="en-US" altLang="zh-CN" sz="1400" b="0" i="0">
                          <a:solidFill>
                            <a:srgbClr val="1F2328"/>
                          </a:solidFill>
                          <a:latin typeface="Verdana" panose="020B0604030504040204" pitchFamily="34" charset="0"/>
                          <a:ea typeface="-apple-system"/>
                          <a:cs typeface="Verdana" panose="020B0604030504040204" pitchFamily="34" charset="0"/>
                        </a:rPr>
                        <a:t>ROC-AUC</a:t>
                      </a:r>
                      <a:endParaRPr lang="en-US" altLang="zh-CN" sz="1400" b="0" i="0">
                        <a:solidFill>
                          <a:srgbClr val="1F2328"/>
                        </a:solidFill>
                        <a:latin typeface="Verdana" panose="020B0604030504040204" pitchFamily="34" charset="0"/>
                        <a:ea typeface="-apple-system"/>
                        <a:cs typeface="Verdana" panose="020B0604030504040204" pitchFamily="34" charset="0"/>
                      </a:endParaRPr>
                    </a:p>
                  </a:txBody>
                  <a:tcPr marL="99377" marR="99377" marT="46037" marB="46037" anchor="ctr" anchorCtr="0"/>
                </a:tc>
                <a:tc>
                  <a:txBody>
                    <a:bodyPr/>
                    <a:p>
                      <a:pPr algn="l">
                        <a:spcAft>
                          <a:spcPct val="0"/>
                        </a:spcAft>
                      </a:pPr>
                      <a:r>
                        <a:rPr lang="en-US" altLang="zh-CN" sz="1400" b="0" i="0">
                          <a:solidFill>
                            <a:srgbClr val="1F2328"/>
                          </a:solidFill>
                          <a:latin typeface="Verdana" panose="020B0604030504040204" pitchFamily="34" charset="0"/>
                          <a:ea typeface="-apple-system"/>
                          <a:cs typeface="Verdana" panose="020B0604030504040204" pitchFamily="34" charset="0"/>
                        </a:rPr>
                        <a:t>0.7207 ± 0.0023</a:t>
                      </a:r>
                      <a:endParaRPr lang="en-US" altLang="zh-CN" sz="1400" b="0" i="0">
                        <a:solidFill>
                          <a:srgbClr val="1F2328"/>
                        </a:solidFill>
                        <a:latin typeface="Verdana" panose="020B0604030504040204" pitchFamily="34" charset="0"/>
                        <a:ea typeface="-apple-system"/>
                        <a:cs typeface="Verdana" panose="020B0604030504040204" pitchFamily="34" charset="0"/>
                      </a:endParaRPr>
                    </a:p>
                  </a:txBody>
                  <a:tcPr marL="99377" marR="99377" marT="46037" marB="46037" anchor="ctr" anchorCtr="0"/>
                </a:tc>
              </a:tr>
              <a:tr h="381000">
                <a:tc>
                  <a:txBody>
                    <a:bodyPr/>
                    <a:p>
                      <a:pPr algn="l">
                        <a:spcAft>
                          <a:spcPct val="0"/>
                        </a:spcAft>
                      </a:pPr>
                      <a:r>
                        <a:rPr lang="en-US" altLang="zh-CN" sz="1400" b="0" i="0">
                          <a:solidFill>
                            <a:srgbClr val="1F2328"/>
                          </a:solidFill>
                          <a:latin typeface="Verdana" panose="020B0604030504040204" pitchFamily="34" charset="0"/>
                          <a:ea typeface="-apple-system"/>
                          <a:cs typeface="Verdana" panose="020B0604030504040204" pitchFamily="34" charset="0"/>
                        </a:rPr>
                        <a:t>MCC</a:t>
                      </a:r>
                      <a:endParaRPr lang="en-US" altLang="zh-CN" sz="1400" b="0" i="0">
                        <a:solidFill>
                          <a:srgbClr val="1F2328"/>
                        </a:solidFill>
                        <a:latin typeface="Verdana" panose="020B0604030504040204" pitchFamily="34" charset="0"/>
                        <a:ea typeface="-apple-system"/>
                        <a:cs typeface="Verdana" panose="020B0604030504040204" pitchFamily="34" charset="0"/>
                      </a:endParaRPr>
                    </a:p>
                  </a:txBody>
                  <a:tcPr marL="99377" marR="99377" marT="46037" marB="46037" anchor="ctr" anchorCtr="0"/>
                </a:tc>
                <a:tc>
                  <a:txBody>
                    <a:bodyPr/>
                    <a:p>
                      <a:pPr algn="l"/>
                      <a:r>
                        <a:rPr lang="en-US" altLang="zh-CN" sz="1400" b="0" i="0">
                          <a:solidFill>
                            <a:srgbClr val="1F2328"/>
                          </a:solidFill>
                          <a:latin typeface="Verdana" panose="020B0604030504040204" pitchFamily="34" charset="0"/>
                          <a:ea typeface="-apple-system"/>
                          <a:cs typeface="Verdana" panose="020B0604030504040204" pitchFamily="34" charset="0"/>
                        </a:rPr>
                        <a:t>0.1799 ± 0.0342</a:t>
                      </a:r>
                      <a:endParaRPr lang="en-US" altLang="zh-CN" sz="1400" b="0" i="0">
                        <a:solidFill>
                          <a:srgbClr val="1F2328"/>
                        </a:solidFill>
                        <a:latin typeface="Verdana" panose="020B0604030504040204" pitchFamily="34" charset="0"/>
                        <a:ea typeface="-apple-system"/>
                        <a:cs typeface="Verdana" panose="020B0604030504040204" pitchFamily="34" charset="0"/>
                      </a:endParaRPr>
                    </a:p>
                  </a:txBody>
                  <a:tcPr marL="99377" marR="99377" marT="46037" marB="46037" anchor="ctr" anchorCtr="0"/>
                </a:tc>
              </a:tr>
              <a:tr h="381000">
                <a:tc>
                  <a:txBody>
                    <a:bodyPr/>
                    <a:p>
                      <a:pPr algn="l">
                        <a:spcAft>
                          <a:spcPct val="0"/>
                        </a:spcAft>
                      </a:pPr>
                      <a:r>
                        <a:rPr lang="en-US" altLang="zh-CN" sz="1400" b="0" i="0">
                          <a:solidFill>
                            <a:srgbClr val="1F2328"/>
                          </a:solidFill>
                          <a:latin typeface="Verdana" panose="020B0604030504040204" pitchFamily="34" charset="0"/>
                          <a:ea typeface="-apple-system"/>
                          <a:cs typeface="Verdana" panose="020B0604030504040204" pitchFamily="34" charset="0"/>
                        </a:rPr>
                        <a:t>Accuracy</a:t>
                      </a:r>
                      <a:endParaRPr lang="en-US" altLang="zh-CN" sz="1400" b="0" i="0">
                        <a:solidFill>
                          <a:srgbClr val="1F2328"/>
                        </a:solidFill>
                        <a:latin typeface="Verdana" panose="020B0604030504040204" pitchFamily="34" charset="0"/>
                        <a:ea typeface="-apple-system"/>
                        <a:cs typeface="Verdana" panose="020B0604030504040204" pitchFamily="34" charset="0"/>
                      </a:endParaRPr>
                    </a:p>
                  </a:txBody>
                  <a:tcPr marL="99377" marR="99377" marT="46037" marB="46037" anchor="ctr" anchorCtr="0"/>
                </a:tc>
                <a:tc>
                  <a:txBody>
                    <a:bodyPr/>
                    <a:p>
                      <a:pPr algn="l"/>
                      <a:r>
                        <a:rPr lang="en-US" altLang="zh-CN" sz="1400" b="0" i="0">
                          <a:solidFill>
                            <a:srgbClr val="1F2328"/>
                          </a:solidFill>
                          <a:latin typeface="Verdana" panose="020B0604030504040204" pitchFamily="34" charset="0"/>
                          <a:ea typeface="-apple-system"/>
                          <a:cs typeface="Verdana" panose="020B0604030504040204" pitchFamily="34" charset="0"/>
                        </a:rPr>
                        <a:t>0.7817 ± 0.0023</a:t>
                      </a:r>
                      <a:endParaRPr lang="en-US" altLang="zh-CN" sz="1400" b="0" i="0">
                        <a:solidFill>
                          <a:srgbClr val="1F2328"/>
                        </a:solidFill>
                        <a:latin typeface="Verdana" panose="020B0604030504040204" pitchFamily="34" charset="0"/>
                        <a:ea typeface="-apple-system"/>
                        <a:cs typeface="Verdana" panose="020B0604030504040204" pitchFamily="34" charset="0"/>
                      </a:endParaRPr>
                    </a:p>
                  </a:txBody>
                  <a:tcPr marL="99377" marR="99377" marT="46037" marB="46037" anchor="ctr" anchorCtr="0"/>
                </a:tc>
              </a:tr>
            </a:tbl>
          </a:graphicData>
        </a:graphic>
      </p:graphicFrame>
      <p:sp>
        <p:nvSpPr>
          <p:cNvPr id="17" name="文本占位符 3"/>
          <p:cNvSpPr>
            <a:spLocks noGrp="1"/>
          </p:cNvSpPr>
          <p:nvPr/>
        </p:nvSpPr>
        <p:spPr>
          <a:xfrm>
            <a:off x="0" y="200025"/>
            <a:ext cx="12192000" cy="473710"/>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Section X: Methodology and Experiment</a:t>
            </a:r>
            <a:endParaRPr lang="zh-CN" altLang="en-US"/>
          </a:p>
        </p:txBody>
      </p:sp>
      <p:sp>
        <p:nvSpPr>
          <p:cNvPr id="18" name="文本框 17"/>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3"/>
          </p:nvPr>
        </p:nvSpPr>
        <p:spPr/>
        <p:txBody>
          <a:bodyPr/>
          <a:p>
            <a:r>
              <a:rPr lang="en-US" altLang="zh-CN" b="1"/>
              <a:t>Baseline and Comparation</a:t>
            </a:r>
            <a:endParaRPr lang="en-US" altLang="zh-CN" b="1"/>
          </a:p>
        </p:txBody>
      </p:sp>
      <p:sp>
        <p:nvSpPr>
          <p:cNvPr id="4" name="日期占位符 3"/>
          <p:cNvSpPr>
            <a:spLocks noGrp="1"/>
          </p:cNvSpPr>
          <p:nvPr>
            <p:ph type="dt" sz="half" idx="10"/>
          </p:nvPr>
        </p:nvSpPr>
        <p:spPr/>
        <p:txBody>
          <a:bodyPr/>
          <a:p>
            <a:fld id="{BB962C8B-B14F-4D97-AF65-F5344CB8AC3E}" type="datetime1">
              <a:rPr lang="en-US" altLang="zh-CN" smtClean="0"/>
            </a:fld>
            <a:endParaRPr lang="en-US" altLang="zh-CN" smtClean="0"/>
          </a:p>
        </p:txBody>
      </p:sp>
      <p:sp>
        <p:nvSpPr>
          <p:cNvPr id="5" name="灯片编号占位符 4"/>
          <p:cNvSpPr>
            <a:spLocks noGrp="1"/>
          </p:cNvSpPr>
          <p:nvPr>
            <p:ph type="sldNum" sz="quarter" idx="12"/>
          </p:nvPr>
        </p:nvSpPr>
        <p:spPr/>
        <p:txBody>
          <a:bodyPr/>
          <a:p>
            <a:fld id="{07E31664-F2F5-479F-9EE0-33FE33DF833E}" type="slidenum">
              <a:rPr lang="zh-CN" altLang="en-US" smtClean="0"/>
            </a:fld>
            <a:endParaRPr lang="zh-CN" altLang="en-US"/>
          </a:p>
        </p:txBody>
      </p:sp>
      <p:sp>
        <p:nvSpPr>
          <p:cNvPr id="6" name="页脚占位符 5"/>
          <p:cNvSpPr>
            <a:spLocks noGrp="1"/>
          </p:cNvSpPr>
          <p:nvPr>
            <p:ph type="ftr" sz="quarter" idx="11"/>
          </p:nvPr>
        </p:nvSpPr>
        <p:spPr/>
        <p:txBody>
          <a:bodyPr/>
          <a:p>
            <a:endParaRPr lang="zh-CN" altLang="en-US"/>
          </a:p>
        </p:txBody>
      </p:sp>
      <p:graphicFrame>
        <p:nvGraphicFramePr>
          <p:cNvPr id="11" name="表格 10"/>
          <p:cNvGraphicFramePr/>
          <p:nvPr>
            <p:custDataLst>
              <p:tags r:id="rId1"/>
            </p:custDataLst>
          </p:nvPr>
        </p:nvGraphicFramePr>
        <p:xfrm>
          <a:off x="953770" y="2398395"/>
          <a:ext cx="10283825" cy="1905000"/>
        </p:xfrm>
        <a:graphic>
          <a:graphicData uri="http://schemas.openxmlformats.org/drawingml/2006/table">
            <a:tbl>
              <a:tblPr firstRow="1" bandRow="1">
                <a:tableStyleId>{5C22544A-7EE6-4342-B048-85BDC9FD1C3A}</a:tableStyleId>
              </a:tblPr>
              <a:tblGrid>
                <a:gridCol w="2056765"/>
                <a:gridCol w="2056765"/>
                <a:gridCol w="2056765"/>
                <a:gridCol w="2056765"/>
                <a:gridCol w="2056765"/>
              </a:tblGrid>
              <a:tr h="462280">
                <a:tc>
                  <a:txBody>
                    <a:bodyPr/>
                    <a:p>
                      <a:pPr marL="0" indent="0">
                        <a:spcBef>
                          <a:spcPct val="0"/>
                        </a:spcBef>
                        <a:spcAft>
                          <a:spcPct val="0"/>
                        </a:spcAft>
                      </a:pPr>
                      <a:r>
                        <a:rPr lang="en-US" altLang="zh-CN" sz="1400">
                          <a:solidFill>
                            <a:schemeClr val="bg1"/>
                          </a:solidFill>
                          <a:latin typeface="Verdana" panose="020B0604030504040204" pitchFamily="34" charset="0"/>
                          <a:ea typeface="Google Sans Text"/>
                          <a:cs typeface="Verdana" panose="020B0604030504040204" pitchFamily="34" charset="0"/>
                        </a:rPr>
                        <a:t>Modality</a:t>
                      </a:r>
                      <a:endParaRPr lang="en-US" altLang="zh-CN" sz="1400">
                        <a:solidFill>
                          <a:schemeClr val="bg1"/>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chemeClr val="bg1"/>
                          </a:solidFill>
                          <a:latin typeface="Verdana" panose="020B0604030504040204" pitchFamily="34" charset="0"/>
                          <a:ea typeface="Google Sans Text"/>
                          <a:cs typeface="Verdana" panose="020B0604030504040204" pitchFamily="34" charset="0"/>
                        </a:rPr>
                        <a:t>Best Model</a:t>
                      </a:r>
                      <a:endParaRPr lang="en-US" altLang="zh-CN" sz="1400">
                        <a:solidFill>
                          <a:schemeClr val="bg1"/>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chemeClr val="bg1"/>
                          </a:solidFill>
                          <a:latin typeface="Verdana" panose="020B0604030504040204" pitchFamily="34" charset="0"/>
                          <a:ea typeface="Google Sans Text"/>
                          <a:cs typeface="Verdana" panose="020B0604030504040204" pitchFamily="34" charset="0"/>
                        </a:rPr>
                        <a:t>ROC-AUC (Mean ± Std)</a:t>
                      </a:r>
                      <a:endParaRPr lang="en-US" altLang="zh-CN" sz="1400">
                        <a:solidFill>
                          <a:schemeClr val="bg1"/>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chemeClr val="bg1"/>
                          </a:solidFill>
                          <a:latin typeface="Verdana" panose="020B0604030504040204" pitchFamily="34" charset="0"/>
                          <a:ea typeface="Google Sans Text"/>
                          <a:cs typeface="Verdana" panose="020B0604030504040204" pitchFamily="34" charset="0"/>
                        </a:rPr>
                        <a:t>MCC (Mean ± Std)</a:t>
                      </a:r>
                      <a:endParaRPr lang="en-US" altLang="zh-CN" sz="1400">
                        <a:solidFill>
                          <a:schemeClr val="bg1"/>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chemeClr val="bg1"/>
                          </a:solidFill>
                          <a:latin typeface="Verdana" panose="020B0604030504040204" pitchFamily="34" charset="0"/>
                          <a:ea typeface="Google Sans Text"/>
                          <a:cs typeface="Verdana" panose="020B0604030504040204" pitchFamily="34" charset="0"/>
                        </a:rPr>
                        <a:t>Accuracy (Mean ± Std)</a:t>
                      </a:r>
                      <a:endParaRPr lang="en-US" altLang="zh-CN" sz="1400">
                        <a:solidFill>
                          <a:schemeClr val="bg1"/>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r>
              <a:tr h="381000">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Micro-Data</a:t>
                      </a:r>
                      <a:r>
                        <a:rPr lang="en-US" altLang="zh-CN" sz="1400">
                          <a:solidFill>
                            <a:srgbClr val="1B1C1D"/>
                          </a:solidFill>
                          <a:latin typeface="Verdana" panose="020B0604030504040204" pitchFamily="34" charset="0"/>
                          <a:ea typeface="Google Sans Text"/>
                          <a:cs typeface="Verdana" panose="020B0604030504040204" pitchFamily="34" charset="0"/>
                        </a:rPr>
                        <a:t> (Structured)</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GradientBoosting</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0.7211 ± 0.0026</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0.1787 ± 0.0082</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0.7834 ± 0.0015</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r>
              <a:tr h="381000">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Text-Data</a:t>
                      </a:r>
                      <a:r>
                        <a:rPr lang="en-US" altLang="zh-CN" sz="1400">
                          <a:solidFill>
                            <a:srgbClr val="1B1C1D"/>
                          </a:solidFill>
                          <a:latin typeface="Verdana" panose="020B0604030504040204" pitchFamily="34" charset="0"/>
                          <a:ea typeface="Google Sans Text"/>
                          <a:cs typeface="Verdana" panose="020B0604030504040204" pitchFamily="34" charset="0"/>
                        </a:rPr>
                        <a:t> (Embeddings)</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LogisticRegression</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0.6673 ± 0.0042</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0.2016 ± 0.0043</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0.6274 ± 0.0031</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r>
              <a:tr h="381000">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Macro-Data</a:t>
                      </a:r>
                      <a:r>
                        <a:rPr lang="en-US" altLang="zh-CN" sz="1400">
                          <a:solidFill>
                            <a:srgbClr val="1B1C1D"/>
                          </a:solidFill>
                          <a:latin typeface="Verdana" panose="020B0604030504040204" pitchFamily="34" charset="0"/>
                          <a:ea typeface="Google Sans Text"/>
                          <a:cs typeface="Verdana" panose="020B0604030504040204" pitchFamily="34" charset="0"/>
                        </a:rPr>
                        <a:t> (Economic)</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LogisticRegression</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0.5236 ± 0.0047</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0.0305 ± 0.0061</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a:solidFill>
                            <a:srgbClr val="1B1C1D"/>
                          </a:solidFill>
                          <a:latin typeface="Verdana" panose="020B0604030504040204" pitchFamily="34" charset="0"/>
                          <a:ea typeface="Google Sans Text"/>
                          <a:cs typeface="Verdana" panose="020B0604030504040204" pitchFamily="34" charset="0"/>
                        </a:rPr>
                        <a:t>0.6397 ± 0.0541</a:t>
                      </a:r>
                      <a:endParaRPr lang="en-US" altLang="zh-CN" sz="1400">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r>
              <a:tr h="381000">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Multi-Modal</a:t>
                      </a:r>
                      <a:r>
                        <a:rPr lang="en-US" altLang="zh-CN" sz="1400">
                          <a:solidFill>
                            <a:srgbClr val="1B1C1D"/>
                          </a:solidFill>
                          <a:latin typeface="Verdana" panose="020B0604030504040204" pitchFamily="34" charset="0"/>
                          <a:ea typeface="Google Sans Text"/>
                          <a:cs typeface="Verdana" panose="020B0604030504040204" pitchFamily="34" charset="0"/>
                        </a:rPr>
                        <a:t> (Fusion)</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MultiModalFusionModel</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0.7207 ± 0.0023</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0.1799 ± 0.0342</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c>
                  <a:txBody>
                    <a:bodyPr/>
                    <a:p>
                      <a:pPr marL="0" indent="0">
                        <a:spcBef>
                          <a:spcPct val="0"/>
                        </a:spcBef>
                        <a:spcAft>
                          <a:spcPct val="0"/>
                        </a:spcAft>
                      </a:pPr>
                      <a:r>
                        <a:rPr lang="en-US" altLang="zh-CN" sz="1400" b="1">
                          <a:solidFill>
                            <a:srgbClr val="1B1C1D"/>
                          </a:solidFill>
                          <a:latin typeface="Verdana" panose="020B0604030504040204" pitchFamily="34" charset="0"/>
                          <a:ea typeface="Google Sans Text"/>
                          <a:cs typeface="Verdana" panose="020B0604030504040204" pitchFamily="34" charset="0"/>
                        </a:rPr>
                        <a:t>0.7817 ± 0.0023</a:t>
                      </a:r>
                      <a:endParaRPr lang="en-US" altLang="zh-CN" sz="1400" b="1">
                        <a:solidFill>
                          <a:srgbClr val="1B1C1D"/>
                        </a:solidFill>
                        <a:latin typeface="Verdana" panose="020B0604030504040204" pitchFamily="34" charset="0"/>
                        <a:ea typeface="Google Sans Text"/>
                        <a:cs typeface="Verdana" panose="020B0604030504040204" pitchFamily="34" charset="0"/>
                      </a:endParaRPr>
                    </a:p>
                  </a:txBody>
                  <a:tcPr marL="91757" marR="91757" marT="61277" marB="61277" anchor="ctr" anchorCtr="0"/>
                </a:tc>
              </a:tr>
            </a:tbl>
          </a:graphicData>
        </a:graphic>
      </p:graphicFrame>
      <p:sp>
        <p:nvSpPr>
          <p:cNvPr id="16" name="文本占位符 15"/>
          <p:cNvSpPr>
            <a:spLocks noGrp="1"/>
          </p:cNvSpPr>
          <p:nvPr>
            <p:ph type="body" idx="17"/>
          </p:nvPr>
        </p:nvSpPr>
        <p:spPr>
          <a:xfrm>
            <a:off x="4174490" y="5257800"/>
            <a:ext cx="3843655" cy="386715"/>
          </a:xfrm>
        </p:spPr>
        <p:txBody>
          <a:bodyPr>
            <a:normAutofit/>
          </a:bodyPr>
          <a:p>
            <a:pPr marL="0" indent="0">
              <a:buNone/>
            </a:pPr>
            <a:r>
              <a:rPr lang="en-US" altLang="zh-CN" sz="1600"/>
              <a:t>Table X: Comparative experiment</a:t>
            </a:r>
            <a:r>
              <a:rPr lang="en-US" altLang="zh-CN" sz="1600"/>
              <a:t>s</a:t>
            </a:r>
            <a:endParaRPr lang="en-US" altLang="zh-CN" sz="1600"/>
          </a:p>
        </p:txBody>
      </p:sp>
      <p:sp>
        <p:nvSpPr>
          <p:cNvPr id="21" name="文本占位符 3"/>
          <p:cNvSpPr>
            <a:spLocks noGrp="1"/>
          </p:cNvSpPr>
          <p:nvPr/>
        </p:nvSpPr>
        <p:spPr>
          <a:xfrm>
            <a:off x="0" y="200025"/>
            <a:ext cx="12192000" cy="473710"/>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Section X: Methodology and Experiment</a:t>
            </a:r>
            <a:endParaRPr lang="zh-CN" altLang="en-US"/>
          </a:p>
        </p:txBody>
      </p:sp>
      <p:sp>
        <p:nvSpPr>
          <p:cNvPr id="22" name="文本框 21"/>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3"/>
          </p:nvPr>
        </p:nvSpPr>
        <p:spPr/>
        <p:txBody>
          <a:bodyPr/>
          <a:p>
            <a:r>
              <a:rPr lang="en-US" altLang="zh-CN" b="1"/>
              <a:t>The "Tri-Conflict" of Bank Provisioning</a:t>
            </a:r>
            <a:endParaRPr lang="en-US" altLang="zh-CN" b="1"/>
          </a:p>
        </p:txBody>
      </p:sp>
      <p:sp>
        <p:nvSpPr>
          <p:cNvPr id="3" name="文本占位符 2"/>
          <p:cNvSpPr>
            <a:spLocks noGrp="1"/>
          </p:cNvSpPr>
          <p:nvPr>
            <p:ph type="body" idx="14"/>
          </p:nvPr>
        </p:nvSpPr>
        <p:spPr>
          <a:xfrm>
            <a:off x="1492250" y="2357755"/>
            <a:ext cx="9288145" cy="3770630"/>
          </a:xfrm>
        </p:spPr>
        <p:txBody>
          <a:bodyPr/>
          <a:p>
            <a:r>
              <a:rPr lang="en-US" altLang="zh-CN" sz="2000"/>
              <a:t>The Core Problem: How much money (</a:t>
            </a:r>
            <a:r>
              <a:rPr lang="en-US" altLang="zh-CN" sz="2000" b="1"/>
              <a:t>Provision</a:t>
            </a:r>
            <a:r>
              <a:rPr lang="en-US" altLang="zh-CN" sz="2000"/>
              <a:t>) should a bank set aside for future loan losses?</a:t>
            </a:r>
            <a:endParaRPr lang="en-US" altLang="zh-CN" sz="2000"/>
          </a:p>
          <a:p>
            <a:pPr lvl="1"/>
            <a:r>
              <a:rPr lang="en-US" altLang="zh-CN" sz="1600"/>
              <a:t>Decision Variable</a:t>
            </a:r>
            <a:r>
              <a:rPr lang="zh-CN" altLang="en-US" sz="1600"/>
              <a:t>：</a:t>
            </a:r>
            <a:endParaRPr lang="zh-CN" altLang="en-US" sz="1600"/>
          </a:p>
          <a:p>
            <a:pPr lvl="1"/>
            <a:r>
              <a:rPr lang="en-US" altLang="zh-CN" sz="1600"/>
              <a:t>Objective Function</a:t>
            </a:r>
            <a:r>
              <a:rPr lang="zh-CN" altLang="en-US" sz="1600"/>
              <a:t>：</a:t>
            </a:r>
            <a:endParaRPr lang="zh-CN" altLang="en-US" sz="1600"/>
          </a:p>
          <a:p>
            <a:pPr lvl="1"/>
            <a:endParaRPr lang="zh-CN" altLang="en-US" sz="1600"/>
          </a:p>
          <a:p>
            <a:pPr lvl="1"/>
            <a:r>
              <a:rPr lang="en-US" altLang="zh-CN" sz="1600"/>
              <a:t>Constraints</a:t>
            </a:r>
            <a:endParaRPr lang="en-US" altLang="zh-CN" sz="1600"/>
          </a:p>
          <a:p>
            <a:pPr lvl="2"/>
            <a:r>
              <a:rPr lang="en-US" altLang="zh-CN" sz="1330"/>
              <a:t>(a) Regulatory Constraint (Constraint_PCR):</a:t>
            </a:r>
            <a:endParaRPr lang="en-US" altLang="zh-CN" sz="1330"/>
          </a:p>
          <a:p>
            <a:pPr lvl="2"/>
            <a:endParaRPr lang="en-US" altLang="zh-CN" sz="1330"/>
          </a:p>
          <a:p>
            <a:pPr lvl="2"/>
            <a:r>
              <a:rPr lang="en-US" altLang="zh-CN" sz="1330"/>
              <a:t>(b) Management Constraint (Constraint_P&amp;L):</a:t>
            </a:r>
            <a:endParaRPr lang="en-US" altLang="zh-CN" sz="1330"/>
          </a:p>
          <a:p>
            <a:pPr lvl="2"/>
            <a:endParaRPr lang="en-US" altLang="zh-CN" sz="1330"/>
          </a:p>
          <a:p>
            <a:pPr lvl="2"/>
            <a:r>
              <a:rPr lang="en-US" altLang="zh-CN" sz="1330"/>
              <a:t>(c) Boundary Constraint (Bounds):</a:t>
            </a:r>
            <a:endParaRPr lang="en-US" altLang="zh-CN" sz="1330"/>
          </a:p>
          <a:p>
            <a:pPr lvl="1"/>
            <a:r>
              <a:rPr lang="en-US" altLang="zh-CN" sz="1595"/>
              <a:t>Method</a:t>
            </a:r>
            <a:r>
              <a:rPr lang="zh-CN" altLang="en-US" sz="1595"/>
              <a:t>：</a:t>
            </a:r>
            <a:r>
              <a:rPr lang="en-US" altLang="zh-CN" sz="1595"/>
              <a:t>SLSQP</a:t>
            </a:r>
            <a:endParaRPr lang="en-US" altLang="zh-CN" sz="1595"/>
          </a:p>
        </p:txBody>
      </p:sp>
      <p:pic>
        <p:nvPicPr>
          <p:cNvPr id="11" name="图片 10"/>
          <p:cNvPicPr>
            <a:picLocks noChangeAspect="1"/>
          </p:cNvPicPr>
          <p:nvPr/>
        </p:nvPicPr>
        <p:blipFill>
          <a:blip r:embed="rId1"/>
          <a:stretch>
            <a:fillRect/>
          </a:stretch>
        </p:blipFill>
        <p:spPr>
          <a:xfrm>
            <a:off x="4222115" y="2914650"/>
            <a:ext cx="704850" cy="342900"/>
          </a:xfrm>
          <a:prstGeom prst="rect">
            <a:avLst/>
          </a:prstGeom>
        </p:spPr>
      </p:pic>
      <p:pic>
        <p:nvPicPr>
          <p:cNvPr id="12" name="图片 11"/>
          <p:cNvPicPr>
            <a:picLocks noChangeAspect="1"/>
          </p:cNvPicPr>
          <p:nvPr/>
        </p:nvPicPr>
        <p:blipFill>
          <a:blip r:embed="rId2"/>
          <a:stretch>
            <a:fillRect/>
          </a:stretch>
        </p:blipFill>
        <p:spPr>
          <a:xfrm>
            <a:off x="4287520" y="3257550"/>
            <a:ext cx="5257800" cy="466725"/>
          </a:xfrm>
          <a:prstGeom prst="rect">
            <a:avLst/>
          </a:prstGeom>
        </p:spPr>
      </p:pic>
      <p:pic>
        <p:nvPicPr>
          <p:cNvPr id="13" name="图片 12"/>
          <p:cNvPicPr>
            <a:picLocks noChangeAspect="1"/>
          </p:cNvPicPr>
          <p:nvPr/>
        </p:nvPicPr>
        <p:blipFill>
          <a:blip r:embed="rId3"/>
          <a:stretch>
            <a:fillRect/>
          </a:stretch>
        </p:blipFill>
        <p:spPr>
          <a:xfrm>
            <a:off x="6598920" y="4000500"/>
            <a:ext cx="2752725" cy="485775"/>
          </a:xfrm>
          <a:prstGeom prst="rect">
            <a:avLst/>
          </a:prstGeom>
        </p:spPr>
      </p:pic>
      <p:pic>
        <p:nvPicPr>
          <p:cNvPr id="14" name="图片 13"/>
          <p:cNvPicPr>
            <a:picLocks noChangeAspect="1"/>
          </p:cNvPicPr>
          <p:nvPr/>
        </p:nvPicPr>
        <p:blipFill>
          <a:blip r:embed="rId4"/>
          <a:stretch>
            <a:fillRect/>
          </a:stretch>
        </p:blipFill>
        <p:spPr>
          <a:xfrm>
            <a:off x="6784340" y="4572635"/>
            <a:ext cx="5295900" cy="342900"/>
          </a:xfrm>
          <a:prstGeom prst="rect">
            <a:avLst/>
          </a:prstGeom>
        </p:spPr>
      </p:pic>
      <p:pic>
        <p:nvPicPr>
          <p:cNvPr id="15" name="图片 14"/>
          <p:cNvPicPr>
            <a:picLocks noChangeAspect="1"/>
          </p:cNvPicPr>
          <p:nvPr/>
        </p:nvPicPr>
        <p:blipFill>
          <a:blip r:embed="rId5"/>
          <a:stretch>
            <a:fillRect/>
          </a:stretch>
        </p:blipFill>
        <p:spPr>
          <a:xfrm>
            <a:off x="5795010" y="5001895"/>
            <a:ext cx="1209675" cy="333375"/>
          </a:xfrm>
          <a:prstGeom prst="rect">
            <a:avLst/>
          </a:prstGeom>
        </p:spPr>
      </p:pic>
      <p:pic>
        <p:nvPicPr>
          <p:cNvPr id="17" name="图片 16"/>
          <p:cNvPicPr>
            <a:picLocks noChangeAspect="1"/>
          </p:cNvPicPr>
          <p:nvPr/>
        </p:nvPicPr>
        <p:blipFill>
          <a:blip r:embed="rId6"/>
          <a:stretch>
            <a:fillRect/>
          </a:stretch>
        </p:blipFill>
        <p:spPr>
          <a:xfrm>
            <a:off x="9865995" y="3189605"/>
            <a:ext cx="914400" cy="323850"/>
          </a:xfrm>
          <a:prstGeom prst="rect">
            <a:avLst/>
          </a:prstGeom>
        </p:spPr>
      </p:pic>
      <p:sp>
        <p:nvSpPr>
          <p:cNvPr id="18" name="矩形 17"/>
          <p:cNvSpPr/>
          <p:nvPr>
            <p:custDataLst>
              <p:tags r:id="rId7"/>
            </p:custDataLst>
          </p:nvPr>
        </p:nvSpPr>
        <p:spPr>
          <a:xfrm>
            <a:off x="9865995" y="3189605"/>
            <a:ext cx="1021715" cy="337185"/>
          </a:xfrm>
          <a:prstGeom prst="rect">
            <a:avLst/>
          </a:prstGeom>
          <a:solidFill>
            <a:schemeClr val="bg1">
              <a:alpha val="0"/>
            </a:schemeClr>
          </a:solid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sp>
        <p:nvSpPr>
          <p:cNvPr id="20" name="矩形 19"/>
          <p:cNvSpPr/>
          <p:nvPr>
            <p:custDataLst>
              <p:tags r:id="rId8"/>
            </p:custDataLst>
          </p:nvPr>
        </p:nvSpPr>
        <p:spPr>
          <a:xfrm>
            <a:off x="6598920" y="4000500"/>
            <a:ext cx="2825115" cy="486410"/>
          </a:xfrm>
          <a:prstGeom prst="rect">
            <a:avLst/>
          </a:prstGeom>
          <a:solidFill>
            <a:schemeClr val="bg1">
              <a:alpha val="0"/>
            </a:schemeClr>
          </a:solid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sp>
        <p:nvSpPr>
          <p:cNvPr id="21" name="矩形 20"/>
          <p:cNvSpPr/>
          <p:nvPr>
            <p:custDataLst>
              <p:tags r:id="rId9"/>
            </p:custDataLst>
          </p:nvPr>
        </p:nvSpPr>
        <p:spPr>
          <a:xfrm>
            <a:off x="6784340" y="4572635"/>
            <a:ext cx="5295265" cy="345440"/>
          </a:xfrm>
          <a:prstGeom prst="rect">
            <a:avLst/>
          </a:prstGeom>
          <a:solidFill>
            <a:schemeClr val="bg1">
              <a:alpha val="0"/>
            </a:schemeClr>
          </a:solid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cxnSp>
        <p:nvCxnSpPr>
          <p:cNvPr id="22" name="直接箭头连接符 21"/>
          <p:cNvCxnSpPr>
            <a:stCxn id="18" idx="1"/>
            <a:endCxn id="12" idx="3"/>
          </p:cNvCxnSpPr>
          <p:nvPr/>
        </p:nvCxnSpPr>
        <p:spPr>
          <a:xfrm flipH="1">
            <a:off x="9545320" y="3358515"/>
            <a:ext cx="320675" cy="13271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矩形 22"/>
          <p:cNvSpPr/>
          <p:nvPr>
            <p:custDataLst>
              <p:tags r:id="rId10"/>
            </p:custDataLst>
          </p:nvPr>
        </p:nvSpPr>
        <p:spPr>
          <a:xfrm>
            <a:off x="9004935" y="3359150"/>
            <a:ext cx="540385" cy="364490"/>
          </a:xfrm>
          <a:prstGeom prst="rect">
            <a:avLst/>
          </a:prstGeom>
          <a:solidFill>
            <a:schemeClr val="bg1">
              <a:alpha val="0"/>
            </a:schemeClr>
          </a:solidFill>
          <a:ln w="28575" cmpd="sng">
            <a:solidFill>
              <a:srgbClr val="FF000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sp>
        <p:nvSpPr>
          <p:cNvPr id="24" name="矩形 23"/>
          <p:cNvSpPr/>
          <p:nvPr>
            <p:custDataLst>
              <p:tags r:id="rId11"/>
            </p:custDataLst>
          </p:nvPr>
        </p:nvSpPr>
        <p:spPr>
          <a:xfrm>
            <a:off x="9865995" y="3257550"/>
            <a:ext cx="975360" cy="205740"/>
          </a:xfrm>
          <a:prstGeom prst="rect">
            <a:avLst/>
          </a:prstGeom>
          <a:solidFill>
            <a:schemeClr val="bg1">
              <a:alpha val="0"/>
            </a:schemeClr>
          </a:solidFill>
          <a:ln w="28575" cmpd="sng">
            <a:solidFill>
              <a:srgbClr val="00B05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sp>
        <p:nvSpPr>
          <p:cNvPr id="25" name="矩形 24"/>
          <p:cNvSpPr/>
          <p:nvPr>
            <p:custDataLst>
              <p:tags r:id="rId12"/>
            </p:custDataLst>
          </p:nvPr>
        </p:nvSpPr>
        <p:spPr>
          <a:xfrm>
            <a:off x="6598920" y="4045585"/>
            <a:ext cx="975360" cy="205740"/>
          </a:xfrm>
          <a:prstGeom prst="rect">
            <a:avLst/>
          </a:prstGeom>
          <a:solidFill>
            <a:schemeClr val="bg1">
              <a:alpha val="0"/>
            </a:schemeClr>
          </a:solidFill>
          <a:ln w="28575" cmpd="sng">
            <a:solidFill>
              <a:srgbClr val="00B050"/>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900" i="1">
              <a:solidFill>
                <a:schemeClr val="tx1"/>
              </a:solidFill>
              <a:latin typeface="Cambria Math" panose="02040503050406030204" charset="0"/>
              <a:cs typeface="Cambria Math" panose="02040503050406030204" charset="0"/>
            </a:endParaRPr>
          </a:p>
        </p:txBody>
      </p:sp>
      <p:sp>
        <p:nvSpPr>
          <p:cNvPr id="26" name="日期占位符 25"/>
          <p:cNvSpPr>
            <a:spLocks noGrp="1"/>
          </p:cNvSpPr>
          <p:nvPr>
            <p:ph type="dt" sz="half" idx="10"/>
          </p:nvPr>
        </p:nvSpPr>
        <p:spPr/>
        <p:txBody>
          <a:bodyPr/>
          <a:p>
            <a:fld id="{BB962C8B-B14F-4D97-AF65-F5344CB8AC3E}" type="datetime1">
              <a:rPr lang="en-US" altLang="zh-CN" smtClean="0"/>
            </a:fld>
            <a:endParaRPr lang="en-US" altLang="zh-CN" smtClean="0"/>
          </a:p>
        </p:txBody>
      </p:sp>
      <p:sp>
        <p:nvSpPr>
          <p:cNvPr id="27" name="灯片编号占位符 26"/>
          <p:cNvSpPr>
            <a:spLocks noGrp="1"/>
          </p:cNvSpPr>
          <p:nvPr>
            <p:ph type="sldNum" sz="quarter" idx="12"/>
          </p:nvPr>
        </p:nvSpPr>
        <p:spPr/>
        <p:txBody>
          <a:bodyPr/>
          <a:p>
            <a:fld id="{07E31664-F2F5-479F-9EE0-33FE33DF833E}" type="slidenum">
              <a:rPr lang="zh-CN" altLang="en-US" smtClean="0"/>
            </a:fld>
            <a:endParaRPr lang="zh-CN" altLang="en-US"/>
          </a:p>
        </p:txBody>
      </p:sp>
      <p:sp>
        <p:nvSpPr>
          <p:cNvPr id="28" name="页脚占位符 27"/>
          <p:cNvSpPr>
            <a:spLocks noGrp="1"/>
          </p:cNvSpPr>
          <p:nvPr>
            <p:ph type="ftr" sz="quarter" idx="11"/>
          </p:nvPr>
        </p:nvSpPr>
        <p:spPr/>
        <p:txBody>
          <a:bodyPr/>
          <a:p>
            <a:endParaRPr lang="zh-CN" altLang="en-US"/>
          </a:p>
        </p:txBody>
      </p:sp>
      <p:sp>
        <p:nvSpPr>
          <p:cNvPr id="30" name="文本占位符 3"/>
          <p:cNvSpPr>
            <a:spLocks noGrp="1"/>
          </p:cNvSpPr>
          <p:nvPr/>
        </p:nvSpPr>
        <p:spPr>
          <a:xfrm>
            <a:off x="0" y="200025"/>
            <a:ext cx="12192000" cy="473710"/>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Section X: Methodology and Experiment</a:t>
            </a:r>
            <a:endParaRPr lang="zh-CN" altLang="en-US"/>
          </a:p>
        </p:txBody>
      </p:sp>
      <p:sp>
        <p:nvSpPr>
          <p:cNvPr id="31" name="文本框 30"/>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占位符 6"/>
          <p:cNvPicPr>
            <a:picLocks noChangeAspect="1"/>
          </p:cNvPicPr>
          <p:nvPr>
            <p:ph type="pic" idx="15"/>
          </p:nvPr>
        </p:nvPicPr>
        <p:blipFill>
          <a:blip r:embed="rId1"/>
          <a:stretch>
            <a:fillRect/>
          </a:stretch>
        </p:blipFill>
        <p:spPr>
          <a:xfrm>
            <a:off x="6495415" y="2138680"/>
            <a:ext cx="4486910" cy="3110230"/>
          </a:xfrm>
          <a:prstGeom prst="rect">
            <a:avLst/>
          </a:prstGeom>
        </p:spPr>
      </p:pic>
      <p:pic>
        <p:nvPicPr>
          <p:cNvPr id="8" name="图片占位符 7"/>
          <p:cNvPicPr>
            <a:picLocks noChangeAspect="1"/>
          </p:cNvPicPr>
          <p:nvPr>
            <p:ph type="pic" idx="13"/>
          </p:nvPr>
        </p:nvPicPr>
        <p:blipFill>
          <a:blip r:embed="rId2"/>
          <a:stretch>
            <a:fillRect/>
          </a:stretch>
        </p:blipFill>
        <p:spPr>
          <a:xfrm>
            <a:off x="1146810" y="2096770"/>
            <a:ext cx="4609465" cy="3110230"/>
          </a:xfrm>
          <a:prstGeom prst="rect">
            <a:avLst/>
          </a:prstGeom>
        </p:spPr>
      </p:pic>
      <p:sp>
        <p:nvSpPr>
          <p:cNvPr id="4" name="文本占位符 3"/>
          <p:cNvSpPr>
            <a:spLocks noGrp="1"/>
          </p:cNvSpPr>
          <p:nvPr>
            <p:ph type="body" idx="16"/>
          </p:nvPr>
        </p:nvSpPr>
        <p:spPr>
          <a:xfrm>
            <a:off x="6328410" y="5437505"/>
            <a:ext cx="4831715" cy="528955"/>
          </a:xfrm>
        </p:spPr>
        <p:txBody>
          <a:bodyPr>
            <a:normAutofit fontScale="90000"/>
          </a:bodyPr>
          <a:p>
            <a:r>
              <a:rPr lang="en-US" altLang="zh-CN"/>
              <a:t>https://github.com/williamtage5/Virtual_Bank_Provision_Optimizer</a:t>
            </a:r>
            <a:endParaRPr lang="en-US" altLang="zh-CN"/>
          </a:p>
        </p:txBody>
      </p:sp>
      <p:sp>
        <p:nvSpPr>
          <p:cNvPr id="5" name="文本占位符 4"/>
          <p:cNvSpPr>
            <a:spLocks noGrp="1"/>
          </p:cNvSpPr>
          <p:nvPr>
            <p:ph type="body" idx="17"/>
          </p:nvPr>
        </p:nvSpPr>
        <p:spPr>
          <a:xfrm>
            <a:off x="1031240" y="5437505"/>
            <a:ext cx="4831715" cy="528320"/>
          </a:xfrm>
        </p:spPr>
        <p:txBody>
          <a:bodyPr>
            <a:normAutofit fontScale="90000"/>
          </a:bodyPr>
          <a:p>
            <a:r>
              <a:rPr lang="en-US" altLang="zh-CN"/>
              <a:t>https://github.com/williamtage5/Virtual_Bank_loan_recovery_prediction_Model</a:t>
            </a:r>
            <a:endParaRPr lang="en-US" altLang="zh-CN"/>
          </a:p>
        </p:txBody>
      </p:sp>
      <p:sp>
        <p:nvSpPr>
          <p:cNvPr id="6" name="文本占位符 5"/>
          <p:cNvSpPr>
            <a:spLocks noGrp="1"/>
          </p:cNvSpPr>
          <p:nvPr>
            <p:ph type="body" idx="18"/>
          </p:nvPr>
        </p:nvSpPr>
        <p:spPr/>
        <p:txBody>
          <a:bodyPr/>
          <a:p>
            <a:r>
              <a:rPr lang="en-US" altLang="zh-CN"/>
              <a:t>To see more details and codes of method</a:t>
            </a:r>
            <a:r>
              <a:rPr lang="en-US" altLang="zh-CN"/>
              <a:t>ology:</a:t>
            </a:r>
            <a:endParaRPr lang="zh-CN" altLang="en-US"/>
          </a:p>
        </p:txBody>
      </p:sp>
      <p:sp>
        <p:nvSpPr>
          <p:cNvPr id="9" name="日期占位符 8"/>
          <p:cNvSpPr>
            <a:spLocks noGrp="1"/>
          </p:cNvSpPr>
          <p:nvPr>
            <p:ph type="dt" sz="half" idx="10"/>
          </p:nvPr>
        </p:nvSpPr>
        <p:spPr/>
        <p:txBody>
          <a:bodyPr/>
          <a:p>
            <a:fld id="{BB962C8B-B14F-4D97-AF65-F5344CB8AC3E}" type="datetime1">
              <a:rPr lang="en-US" altLang="zh-CN" smtClean="0"/>
            </a:fld>
            <a:endParaRPr lang="en-US" altLang="zh-CN" smtClean="0"/>
          </a:p>
        </p:txBody>
      </p:sp>
      <p:sp>
        <p:nvSpPr>
          <p:cNvPr id="10" name="灯片编号占位符 9"/>
          <p:cNvSpPr>
            <a:spLocks noGrp="1"/>
          </p:cNvSpPr>
          <p:nvPr>
            <p:ph type="sldNum" sz="quarter" idx="12"/>
          </p:nvPr>
        </p:nvSpPr>
        <p:spPr/>
        <p:txBody>
          <a:bodyPr/>
          <a:p>
            <a:fld id="{07E31664-F2F5-479F-9EE0-33FE33DF833E}" type="slidenum">
              <a:rPr lang="zh-CN" altLang="en-US" smtClean="0"/>
            </a:fld>
            <a:endParaRPr lang="zh-CN" altLang="en-US"/>
          </a:p>
        </p:txBody>
      </p:sp>
      <p:sp>
        <p:nvSpPr>
          <p:cNvPr id="11" name="页脚占位符 10"/>
          <p:cNvSpPr>
            <a:spLocks noGrp="1"/>
          </p:cNvSpPr>
          <p:nvPr>
            <p:ph type="ftr" sz="quarter" idx="11"/>
          </p:nvPr>
        </p:nvSpPr>
        <p:spPr/>
        <p:txBody>
          <a:bodyPr/>
          <a:p>
            <a:endParaRPr lang="zh-CN" altLang="en-US"/>
          </a:p>
        </p:txBody>
      </p:sp>
      <p:sp>
        <p:nvSpPr>
          <p:cNvPr id="12" name="文本占位符 3"/>
          <p:cNvSpPr>
            <a:spLocks noGrp="1"/>
          </p:cNvSpPr>
          <p:nvPr/>
        </p:nvSpPr>
        <p:spPr>
          <a:xfrm>
            <a:off x="0" y="200025"/>
            <a:ext cx="12192000" cy="473710"/>
          </a:xfrm>
          <a:prstGeom prst="rect">
            <a:avLst/>
          </a:prstGeom>
        </p:spPr>
        <p:txBody>
          <a:bodyPr vert="horz" lIns="91440" tIns="45720" rIns="91440" bIns="45720" rtlCol="0">
            <a:normAutofit fontScale="90000"/>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Section X: Methodology and Experiment</a:t>
            </a:r>
            <a:endParaRPr lang="zh-CN" altLang="en-US"/>
          </a:p>
        </p:txBody>
      </p:sp>
      <p:sp>
        <p:nvSpPr>
          <p:cNvPr id="13" name="文本框 12"/>
          <p:cNvSpPr txBox="1"/>
          <p:nvPr/>
        </p:nvSpPr>
        <p:spPr>
          <a:xfrm>
            <a:off x="10328275" y="315595"/>
            <a:ext cx="1863725" cy="368300"/>
          </a:xfrm>
          <a:prstGeom prst="rect">
            <a:avLst/>
          </a:prstGeom>
          <a:noFill/>
        </p:spPr>
        <p:txBody>
          <a:bodyPr wrap="square" rtlCol="0">
            <a:spAutoFit/>
          </a:bodyPr>
          <a:p>
            <a:r>
              <a:rPr lang="en-US" altLang="zh-CN">
                <a:solidFill>
                  <a:schemeClr val="bg1"/>
                </a:solidFill>
              </a:rPr>
              <a:t>Guoxuan Sun</a:t>
            </a:r>
            <a:endParaRPr lang="en-US" altLang="zh-CN">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DIAGRAM_VIRTUALLY_FRAME" val="{&quot;height&quot;:126.1464566929134,&quot;left&quot;:80.7,&quot;top&quot;:163.75,&quot;width&quot;:272.95}"/>
</p:tagLst>
</file>

<file path=ppt/tags/tag2.xml><?xml version="1.0" encoding="utf-8"?>
<p:tagLst xmlns:p="http://schemas.openxmlformats.org/presentationml/2006/main">
  <p:tag name="TABLE_ENDDRAG_ORIGIN_RECT" val="428*127"/>
  <p:tag name="TABLE_ENDDRAG_RECT" val="39*210*428*127"/>
</p:tagLst>
</file>

<file path=ppt/tags/tag3.xml><?xml version="1.0" encoding="utf-8"?>
<p:tagLst xmlns:p="http://schemas.openxmlformats.org/presentationml/2006/main">
  <p:tag name="TABLE_ENDDRAG_ORIGIN_RECT" val="809*180"/>
  <p:tag name="TABLE_ENDDRAG_RECT" val="93*159*809*180"/>
</p:tagLst>
</file>

<file path=ppt/tags/tag4.xml><?xml version="1.0" encoding="utf-8"?>
<p:tagLst xmlns:p="http://schemas.openxmlformats.org/presentationml/2006/main">
  <p:tag name="KSO_WM_DIAGRAM_VIRTUALLY_FRAME" val="{&quot;height&quot;:126.1464566929134,&quot;left&quot;:80.7,&quot;top&quot;:163.75,&quot;width&quot;:272.95}"/>
</p:tagLst>
</file>

<file path=ppt/tags/tag5.xml><?xml version="1.0" encoding="utf-8"?>
<p:tagLst xmlns:p="http://schemas.openxmlformats.org/presentationml/2006/main">
  <p:tag name="KSO_WM_DIAGRAM_VIRTUALLY_FRAME" val="{&quot;height&quot;:126.1464566929134,&quot;left&quot;:80.7,&quot;top&quot;:163.75,&quot;width&quot;:272.95}"/>
</p:tagLst>
</file>

<file path=ppt/tags/tag6.xml><?xml version="1.0" encoding="utf-8"?>
<p:tagLst xmlns:p="http://schemas.openxmlformats.org/presentationml/2006/main">
  <p:tag name="KSO_WM_DIAGRAM_VIRTUALLY_FRAME" val="{&quot;height&quot;:126.1464566929134,&quot;left&quot;:80.7,&quot;top&quot;:163.75,&quot;width&quot;:272.95}"/>
</p:tagLst>
</file>

<file path=ppt/tags/tag7.xml><?xml version="1.0" encoding="utf-8"?>
<p:tagLst xmlns:p="http://schemas.openxmlformats.org/presentationml/2006/main">
  <p:tag name="KSO_WM_DIAGRAM_VIRTUALLY_FRAME" val="{&quot;height&quot;:126.1464566929134,&quot;left&quot;:80.7,&quot;top&quot;:163.75,&quot;width&quot;:272.95}"/>
</p:tagLst>
</file>

<file path=ppt/tags/tag8.xml><?xml version="1.0" encoding="utf-8"?>
<p:tagLst xmlns:p="http://schemas.openxmlformats.org/presentationml/2006/main">
  <p:tag name="KSO_WM_DIAGRAM_VIRTUALLY_FRAME" val="{&quot;height&quot;:126.1464566929134,&quot;left&quot;:80.7,&quot;top&quot;:163.75,&quot;width&quot;:272.95}"/>
</p:tagLst>
</file>

<file path=ppt/tags/tag9.xml><?xml version="1.0" encoding="utf-8"?>
<p:tagLst xmlns:p="http://schemas.openxmlformats.org/presentationml/2006/main">
  <p:tag name="KSO_WM_DIAGRAM_VIRTUALLY_FRAME" val="{&quot;height&quot;:126.1464566929134,&quot;left&quot;:80.7,&quot;top&quot;:163.75,&quot;width&quot;:272.95}"/>
</p:tagLst>
</file>

<file path=ppt/theme/theme1.xml><?xml version="1.0" encoding="utf-8"?>
<a:theme xmlns:a="http://schemas.openxmlformats.org/drawingml/2006/main" name="CUHK Theme 1">
  <a:themeElements>
    <a:clrScheme name="自定义 2">
      <a:dk1>
        <a:srgbClr val="6E1E6F"/>
      </a:dk1>
      <a:lt1>
        <a:srgbClr val="FFFFFF"/>
      </a:lt1>
      <a:dk2>
        <a:srgbClr val="F2CFEE"/>
      </a:dk2>
      <a:lt2>
        <a:srgbClr val="E8E8E8"/>
      </a:lt2>
      <a:accent1>
        <a:srgbClr val="6E1E6F"/>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自定义 1">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2562</Words>
  <Application>WPS 演示</Application>
  <PresentationFormat>Widescreen</PresentationFormat>
  <Paragraphs>191</Paragraphs>
  <Slides>11</Slides>
  <Notes>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vt:i4>
      </vt:variant>
    </vt:vector>
  </HeadingPairs>
  <TitlesOfParts>
    <vt:vector size="27" baseType="lpstr">
      <vt:lpstr>Arial</vt:lpstr>
      <vt:lpstr>宋体</vt:lpstr>
      <vt:lpstr>Wingdings</vt:lpstr>
      <vt:lpstr>Verdana</vt:lpstr>
      <vt:lpstr>Tahoma</vt:lpstr>
      <vt:lpstr>Consolas</vt:lpstr>
      <vt:lpstr>Inter</vt:lpstr>
      <vt:lpstr>Segoe Print</vt:lpstr>
      <vt:lpstr>Cambria Math</vt:lpstr>
      <vt:lpstr>微软雅黑</vt:lpstr>
      <vt:lpstr>Arial Unicode MS</vt:lpstr>
      <vt:lpstr>等线</vt:lpstr>
      <vt:lpstr>-apple-system</vt:lpstr>
      <vt:lpstr>Calibri</vt:lpstr>
      <vt:lpstr>Google Sans Text</vt:lpstr>
      <vt:lpstr>CUHK Theme 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Yuxi</dc:creator>
  <cp:lastModifiedBy>William-SUN</cp:lastModifiedBy>
  <cp:revision>71</cp:revision>
  <dcterms:created xsi:type="dcterms:W3CDTF">2024-10-15T12:02:00Z</dcterms:created>
  <dcterms:modified xsi:type="dcterms:W3CDTF">2025-11-08T15:44:25Z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6F16378712064D54935CF2294B6C5495_11</vt:lpwstr>
  </property>
  <property fmtid="{D5CDD505-2E9C-101B-9397-08002B2CF9AE}" pid="3" name="KSOProductBuildVer">
    <vt:lpwstr>2052-12.1.0.23542</vt:lpwstr>
  </property>
</Properties>
</file>